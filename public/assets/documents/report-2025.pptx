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8" r:id="rId3"/>
    <p:sldId id="257" r:id="rId4"/>
    <p:sldId id="258" r:id="rId5"/>
    <p:sldId id="264" r:id="rId6"/>
    <p:sldId id="310" r:id="rId7"/>
    <p:sldId id="312" r:id="rId8"/>
    <p:sldId id="530" r:id="rId9"/>
    <p:sldId id="283" r:id="rId10"/>
    <p:sldId id="313" r:id="rId11"/>
    <p:sldId id="375" r:id="rId12"/>
    <p:sldId id="575" r:id="rId13"/>
    <p:sldId id="540" r:id="rId14"/>
    <p:sldId id="259" r:id="rId15"/>
    <p:sldId id="531" r:id="rId16"/>
    <p:sldId id="532" r:id="rId17"/>
    <p:sldId id="542" r:id="rId18"/>
    <p:sldId id="533" r:id="rId19"/>
    <p:sldId id="534" r:id="rId20"/>
    <p:sldId id="543" r:id="rId21"/>
    <p:sldId id="545" r:id="rId22"/>
    <p:sldId id="547" r:id="rId23"/>
    <p:sldId id="548" r:id="rId24"/>
    <p:sldId id="549" r:id="rId25"/>
    <p:sldId id="550" r:id="rId26"/>
    <p:sldId id="552" r:id="rId27"/>
    <p:sldId id="553" r:id="rId28"/>
    <p:sldId id="554" r:id="rId29"/>
    <p:sldId id="555" r:id="rId30"/>
    <p:sldId id="297" r:id="rId31"/>
    <p:sldId id="536" r:id="rId32"/>
    <p:sldId id="539" r:id="rId33"/>
    <p:sldId id="290" r:id="rId34"/>
    <p:sldId id="560" r:id="rId35"/>
    <p:sldId id="559" r:id="rId36"/>
    <p:sldId id="429" r:id="rId37"/>
    <p:sldId id="556" r:id="rId38"/>
    <p:sldId id="426" r:id="rId39"/>
    <p:sldId id="561" r:id="rId40"/>
    <p:sldId id="562" r:id="rId41"/>
    <p:sldId id="563" r:id="rId42"/>
    <p:sldId id="564" r:id="rId43"/>
    <p:sldId id="565" r:id="rId44"/>
    <p:sldId id="566" r:id="rId45"/>
    <p:sldId id="574" r:id="rId46"/>
    <p:sldId id="568" r:id="rId47"/>
    <p:sldId id="569" r:id="rId48"/>
    <p:sldId id="570" r:id="rId49"/>
    <p:sldId id="571" r:id="rId50"/>
    <p:sldId id="572" r:id="rId51"/>
    <p:sldId id="573" r:id="rId52"/>
    <p:sldId id="342" r:id="rId53"/>
    <p:sldId id="341" r:id="rId54"/>
    <p:sldId id="343"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7A4"/>
    <a:srgbClr val="E9E086"/>
    <a:srgbClr val="E2D864"/>
    <a:srgbClr val="FCFBEF"/>
    <a:srgbClr val="9087EC"/>
    <a:srgbClr val="140CB4"/>
    <a:srgbClr val="C4F2FD"/>
    <a:srgbClr val="E6F9FE"/>
    <a:srgbClr val="D0F1FD"/>
    <a:srgbClr val="8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47" autoAdjust="0"/>
    <p:restoredTop sz="94660"/>
  </p:normalViewPr>
  <p:slideViewPr>
    <p:cSldViewPr snapToGrid="0" showGuides="1">
      <p:cViewPr varScale="1">
        <p:scale>
          <a:sx n="84" d="100"/>
          <a:sy n="84" d="100"/>
        </p:scale>
        <p:origin x="1200" y="82"/>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D:\Curren%20C%20Data\Desktop\RAPID\2025%20Working\Spring%202025\Summary-SP-2025.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D:\Curren%20C%20Data\Desktop\RAPID\2025%20Working\Board%20Meeting\All%20scholar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'[Summary-SP-2025.xlsx]Sheet2'!$C$5:$C$15</c:f>
              <c:strCache>
                <c:ptCount val="11"/>
                <c:pt idx="0">
                  <c:v>Spring 2020 Semester</c:v>
                </c:pt>
                <c:pt idx="1">
                  <c:v>Fall 2020 Semester</c:v>
                </c:pt>
                <c:pt idx="2">
                  <c:v>Spring 2021 Semester</c:v>
                </c:pt>
                <c:pt idx="3">
                  <c:v>Fall 2021 Semester</c:v>
                </c:pt>
                <c:pt idx="4">
                  <c:v>Spring 2022 Semester</c:v>
                </c:pt>
                <c:pt idx="5">
                  <c:v>Fall 2022 Semester</c:v>
                </c:pt>
                <c:pt idx="6">
                  <c:v>Spring 2023 Semester</c:v>
                </c:pt>
                <c:pt idx="7">
                  <c:v>Fall 2023 Semester</c:v>
                </c:pt>
                <c:pt idx="8">
                  <c:v>Spring 2024 Semester</c:v>
                </c:pt>
                <c:pt idx="9">
                  <c:v>Fall 2024 Semester</c:v>
                </c:pt>
                <c:pt idx="10">
                  <c:v>Spring 2025 Semester</c:v>
                </c:pt>
              </c:strCache>
            </c:strRef>
          </c:cat>
          <c:val>
            <c:numRef>
              <c:f>'[Summary-SP-2025.xlsx]Sheet2'!$D$5:$D$15</c:f>
              <c:numCache>
                <c:formatCode>General</c:formatCode>
                <c:ptCount val="11"/>
                <c:pt idx="0">
                  <c:v>5</c:v>
                </c:pt>
                <c:pt idx="1">
                  <c:v>19</c:v>
                </c:pt>
                <c:pt idx="2">
                  <c:v>44</c:v>
                </c:pt>
                <c:pt idx="3">
                  <c:v>42</c:v>
                </c:pt>
                <c:pt idx="4">
                  <c:v>57</c:v>
                </c:pt>
                <c:pt idx="5">
                  <c:v>44</c:v>
                </c:pt>
                <c:pt idx="6">
                  <c:v>72</c:v>
                </c:pt>
                <c:pt idx="7">
                  <c:v>63</c:v>
                </c:pt>
                <c:pt idx="8">
                  <c:v>68</c:v>
                </c:pt>
                <c:pt idx="9">
                  <c:v>68</c:v>
                </c:pt>
                <c:pt idx="10">
                  <c:v>71</c:v>
                </c:pt>
              </c:numCache>
            </c:numRef>
          </c:val>
        </c:ser>
        <c:dLbls>
          <c:showLegendKey val="0"/>
          <c:showVal val="1"/>
          <c:showCatName val="0"/>
          <c:showSerName val="0"/>
          <c:showPercent val="0"/>
          <c:showBubbleSize val="0"/>
        </c:dLbls>
        <c:gapWidth val="246"/>
        <c:overlap val="-28"/>
        <c:axId val="997151039"/>
        <c:axId val="402080983"/>
      </c:barChart>
      <c:catAx>
        <c:axId val="997151039"/>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p>
        </c:txPr>
        <c:crossAx val="402080983"/>
        <c:crosses val="autoZero"/>
        <c:auto val="1"/>
        <c:lblAlgn val="ctr"/>
        <c:lblOffset val="100"/>
        <c:noMultiLvlLbl val="0"/>
      </c:catAx>
      <c:valAx>
        <c:axId val="402080983"/>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p>
        </c:txPr>
        <c:crossAx val="997151039"/>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1ec4fc2b-36d9-4665-a7b3-606e96e94f72}"/>
      </c:ext>
    </c:extLst>
  </c:chart>
  <c:spPr>
    <a:solidFill>
      <a:schemeClr val="bg1"/>
    </a:solidFill>
    <a:ln w="9525" cap="flat" cmpd="sng" algn="ctr">
      <a:solidFill>
        <a:schemeClr val="tx1">
          <a:lumMod val="15000"/>
          <a:lumOff val="85000"/>
        </a:schemeClr>
      </a:solidFill>
      <a:round/>
    </a:ln>
    <a:effectLst/>
  </c:spPr>
  <c:txPr>
    <a:bodyPr/>
    <a:lstStyle/>
    <a:p>
      <a:pPr>
        <a:defRPr lang="en-US" sz="16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2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'[All scholars.xlsx]Sheet2'!$F$18:$N$18</c:f>
              <c:strCache>
                <c:ptCount val="9"/>
                <c:pt idx="0">
                  <c:v>Spring 2021</c:v>
                </c:pt>
                <c:pt idx="1">
                  <c:v>Fall 2021</c:v>
                </c:pt>
                <c:pt idx="2">
                  <c:v>Spring  2022</c:v>
                </c:pt>
                <c:pt idx="3">
                  <c:v>Fall 2022</c:v>
                </c:pt>
                <c:pt idx="4">
                  <c:v>Spring  2023</c:v>
                </c:pt>
                <c:pt idx="5">
                  <c:v>Fall 2023</c:v>
                </c:pt>
                <c:pt idx="6">
                  <c:v>Spring  2024</c:v>
                </c:pt>
                <c:pt idx="7">
                  <c:v>Fall 2024</c:v>
                </c:pt>
                <c:pt idx="8">
                  <c:v>Spring 2025</c:v>
                </c:pt>
              </c:strCache>
            </c:strRef>
          </c:cat>
          <c:val>
            <c:numRef>
              <c:f>'[All scholars.xlsx]Sheet2'!$F$19:$N$19</c:f>
              <c:numCache>
                <c:formatCode>General</c:formatCode>
                <c:ptCount val="9"/>
                <c:pt idx="0">
                  <c:v>3</c:v>
                </c:pt>
                <c:pt idx="1">
                  <c:v>3</c:v>
                </c:pt>
                <c:pt idx="2">
                  <c:v>7</c:v>
                </c:pt>
                <c:pt idx="3">
                  <c:v>2</c:v>
                </c:pt>
                <c:pt idx="4">
                  <c:v>16</c:v>
                </c:pt>
                <c:pt idx="5">
                  <c:v>12</c:v>
                </c:pt>
                <c:pt idx="6">
                  <c:v>6</c:v>
                </c:pt>
                <c:pt idx="7">
                  <c:v>2</c:v>
                </c:pt>
                <c:pt idx="8">
                  <c:v>20</c:v>
                </c:pt>
              </c:numCache>
            </c:numRef>
          </c:val>
        </c:ser>
        <c:dLbls>
          <c:showLegendKey val="0"/>
          <c:showVal val="1"/>
          <c:showCatName val="0"/>
          <c:showSerName val="0"/>
          <c:showPercent val="0"/>
          <c:showBubbleSize val="0"/>
        </c:dLbls>
        <c:gapWidth val="246"/>
        <c:overlap val="-28"/>
        <c:axId val="249954836"/>
        <c:axId val="253329641"/>
      </c:barChart>
      <c:catAx>
        <c:axId val="249954836"/>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2000" b="0" i="0" u="none" strike="noStrike" kern="1200" baseline="0">
                <a:solidFill>
                  <a:schemeClr val="tx1">
                    <a:lumMod val="65000"/>
                    <a:lumOff val="35000"/>
                  </a:schemeClr>
                </a:solidFill>
                <a:latin typeface="+mn-lt"/>
                <a:ea typeface="+mn-ea"/>
                <a:cs typeface="+mn-cs"/>
              </a:defRPr>
            </a:pPr>
          </a:p>
        </c:txPr>
        <c:crossAx val="253329641"/>
        <c:crosses val="autoZero"/>
        <c:auto val="1"/>
        <c:lblAlgn val="ctr"/>
        <c:lblOffset val="100"/>
        <c:noMultiLvlLbl val="0"/>
      </c:catAx>
      <c:valAx>
        <c:axId val="253329641"/>
        <c:scaling>
          <c:orientation val="minMax"/>
        </c:scaling>
        <c:delete val="0"/>
        <c:axPos val="l"/>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en-US" sz="2000" b="0" i="0" u="none" strike="noStrike" kern="1200" baseline="0">
                <a:solidFill>
                  <a:schemeClr val="tx1">
                    <a:lumMod val="65000"/>
                    <a:lumOff val="35000"/>
                  </a:schemeClr>
                </a:solidFill>
                <a:latin typeface="+mn-lt"/>
                <a:ea typeface="+mn-ea"/>
                <a:cs typeface="+mn-cs"/>
              </a:defRPr>
            </a:pPr>
          </a:p>
        </c:txPr>
        <c:crossAx val="249954836"/>
        <c:crosses val="autoZero"/>
        <c:crossBetween val="between"/>
      </c:valAx>
      <c:spPr>
        <a:noFill/>
        <a:ln>
          <a:noFill/>
        </a:ln>
        <a:effectLst/>
      </c:spPr>
    </c:plotArea>
    <c:plotVisOnly val="1"/>
    <c:dispBlanksAs val="gap"/>
    <c:showDLblsOverMax val="0"/>
    <c:extLst>
      <c:ext uri="{0b15fc19-7d7d-44ad-8c2d-2c3a37ce22c3}">
        <chartProps xmlns="https://web.wps.cn/et/2018/main" chartId="{bfde206d-e3cb-43f4-8195-ee87786823e4}"/>
      </c:ext>
    </c:extLst>
  </c:chart>
  <c:spPr>
    <a:solidFill>
      <a:schemeClr val="bg1"/>
    </a:solidFill>
    <a:ln w="9525" cap="flat" cmpd="sng" algn="ctr">
      <a:solidFill>
        <a:schemeClr val="tx1">
          <a:lumMod val="15000"/>
          <a:lumOff val="85000"/>
        </a:schemeClr>
      </a:solidFill>
      <a:round/>
    </a:ln>
    <a:effectLst/>
  </c:spPr>
  <c:txPr>
    <a:bodyPr/>
    <a:lstStyle/>
    <a:p>
      <a:pPr>
        <a:defRPr lang="en-US" sz="2000"/>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08BDE135-FDA7-44AA-AAD5-B9847B29B274}" type="datetimeFigureOut">
              <a:rPr lang="en-GB" smtClean="0"/>
            </a:fld>
            <a:endParaRPr lang="en-GB"/>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GB"/>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728F51B1-1725-40AC-A8F3-33557498457E}" type="slidenum">
              <a:rPr lang="en-GB" smtClean="0"/>
            </a:fld>
            <a:endParaRPr lang="en-GB"/>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8BDE135-FDA7-44AA-AAD5-B9847B29B27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8BDE135-FDA7-44AA-AAD5-B9847B29B27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8F51B1-1725-40AC-A8F3-33557498457E}" type="slidenum">
              <a:rPr lang="en-GB" smtClean="0"/>
            </a:fld>
            <a:endParaRPr lang="en-GB"/>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08BDE135-FDA7-44AA-AAD5-B9847B29B27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08BDE135-FDA7-44AA-AAD5-B9847B29B274}"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8BDE135-FDA7-44AA-AAD5-B9847B29B274}"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BDE135-FDA7-44AA-AAD5-B9847B29B274}"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8BDE135-FDA7-44AA-AAD5-B9847B29B27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8BDE135-FDA7-44AA-AAD5-B9847B29B274}"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8BDE135-FDA7-44AA-AAD5-B9847B29B27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8BDE135-FDA7-44AA-AAD5-B9847B29B27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8F51B1-1725-40AC-A8F3-33557498457E}" type="slidenum">
              <a:rPr lang="en-GB" smtClean="0"/>
            </a:fld>
            <a:endParaRPr lang="en-GB"/>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08BDE135-FDA7-44AA-AAD5-B9847B29B274}" type="datetimeFigureOut">
              <a:rPr lang="en-GB" smtClean="0"/>
            </a:fld>
            <a:endParaRPr lang="en-GB"/>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GB"/>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728F51B1-1725-40AC-A8F3-33557498457E}"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1.jpeg"/><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3.jpeg"/><Relationship Id="rId2" Type="http://schemas.openxmlformats.org/officeDocument/2006/relationships/image" Target="../media/image12.jpeg"/><Relationship Id="rId10" Type="http://schemas.openxmlformats.org/officeDocument/2006/relationships/slideLayout" Target="../slideLayouts/slideLayout7.xml"/><Relationship Id="rId1" Type="http://schemas.openxmlformats.org/officeDocument/2006/relationships/image" Target="../media/image10.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jpeg"/><Relationship Id="rId1" Type="http://schemas.openxmlformats.org/officeDocument/2006/relationships/image" Target="../media/image1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microsoft.com/office/2007/relationships/hdphoto" Target="../media/image29.wdp"/><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1620" y="274955"/>
            <a:ext cx="4669790" cy="3182620"/>
          </a:xfrm>
          <a:noFill/>
        </p:spPr>
        <p:txBody>
          <a:bodyPr>
            <a:noAutofit/>
          </a:bodyPr>
          <a:lstStyle/>
          <a:p>
            <a:pPr algn="ctr"/>
            <a:r>
              <a:rPr lang="en-GB" sz="4400" b="1" dirty="0" smtClean="0">
                <a:effectLst>
                  <a:glow rad="63500">
                    <a:schemeClr val="accent2">
                      <a:lumMod val="60000"/>
                      <a:lumOff val="40000"/>
                      <a:alpha val="89000"/>
                    </a:schemeClr>
                  </a:glow>
                </a:effectLst>
              </a:rPr>
              <a:t>Reconciliation </a:t>
            </a:r>
            <a:r>
              <a:rPr lang="en-GB" sz="4400" b="1" dirty="0">
                <a:effectLst>
                  <a:glow rad="63500">
                    <a:schemeClr val="accent2">
                      <a:lumMod val="60000"/>
                      <a:lumOff val="40000"/>
                      <a:alpha val="89000"/>
                    </a:schemeClr>
                  </a:glow>
                </a:effectLst>
              </a:rPr>
              <a:t>And Peace Innovative </a:t>
            </a:r>
            <a:r>
              <a:rPr lang="en-GB" sz="4400" b="1" dirty="0" smtClean="0">
                <a:effectLst>
                  <a:glow rad="63500">
                    <a:schemeClr val="accent2">
                      <a:lumMod val="60000"/>
                      <a:lumOff val="40000"/>
                      <a:alpha val="89000"/>
                    </a:schemeClr>
                  </a:glow>
                </a:effectLst>
              </a:rPr>
              <a:t>Development</a:t>
            </a:r>
            <a:endParaRPr lang="en-GB" sz="4400" b="1" dirty="0" smtClean="0">
              <a:effectLst>
                <a:glow rad="63500">
                  <a:schemeClr val="accent2">
                    <a:lumMod val="60000"/>
                    <a:lumOff val="40000"/>
                    <a:alpha val="89000"/>
                  </a:schemeClr>
                </a:glow>
              </a:effectLst>
            </a:endParaRPr>
          </a:p>
          <a:p>
            <a:pPr algn="ctr"/>
            <a:r>
              <a:rPr lang="en-GB" sz="4400" b="1" dirty="0" smtClean="0">
                <a:effectLst>
                  <a:glow rad="63500">
                    <a:schemeClr val="accent2">
                      <a:lumMod val="60000"/>
                      <a:lumOff val="40000"/>
                      <a:alpha val="89000"/>
                    </a:schemeClr>
                  </a:glow>
                </a:effectLst>
              </a:rPr>
              <a:t>(RAPID)</a:t>
            </a:r>
            <a:endParaRPr lang="en-GB" sz="4400" dirty="0">
              <a:effectLst>
                <a:glow rad="63500">
                  <a:schemeClr val="accent2">
                    <a:lumMod val="60000"/>
                    <a:lumOff val="40000"/>
                    <a:alpha val="89000"/>
                  </a:schemeClr>
                </a:glow>
              </a:effectLst>
            </a:endParaRPr>
          </a:p>
        </p:txBody>
      </p:sp>
      <p:sp>
        <p:nvSpPr>
          <p:cNvPr id="2" name="TextBox 1"/>
          <p:cNvSpPr txBox="1"/>
          <p:nvPr/>
        </p:nvSpPr>
        <p:spPr>
          <a:xfrm>
            <a:off x="1475308" y="4224292"/>
            <a:ext cx="6339300" cy="646331"/>
          </a:xfrm>
          <a:prstGeom prst="rect">
            <a:avLst/>
          </a:prstGeom>
          <a:noFill/>
        </p:spPr>
        <p:txBody>
          <a:bodyPr wrap="none" rtlCol="0">
            <a:spAutoFit/>
          </a:bodyPr>
          <a:lstStyle/>
          <a:p>
            <a:r>
              <a:rPr lang="en-US" sz="3600" dirty="0" smtClean="0"/>
              <a:t>WEB </a:t>
            </a:r>
            <a:r>
              <a:rPr lang="en-US" sz="3600" dirty="0" err="1" smtClean="0"/>
              <a:t>SITE:www.rapidcharity.org</a:t>
            </a:r>
            <a:endParaRPr lang="en-US" sz="3600" dirty="0"/>
          </a:p>
        </p:txBody>
      </p:sp>
      <p:sp>
        <p:nvSpPr>
          <p:cNvPr id="6" name="TextBox 5"/>
          <p:cNvSpPr txBox="1"/>
          <p:nvPr/>
        </p:nvSpPr>
        <p:spPr>
          <a:xfrm>
            <a:off x="1574288" y="5117127"/>
            <a:ext cx="5995424" cy="646331"/>
          </a:xfrm>
          <a:prstGeom prst="rect">
            <a:avLst/>
          </a:prstGeom>
          <a:noFill/>
        </p:spPr>
        <p:txBody>
          <a:bodyPr wrap="none" rtlCol="0">
            <a:spAutoFit/>
          </a:bodyPr>
          <a:lstStyle/>
          <a:p>
            <a:r>
              <a:rPr lang="en-US" sz="3600" dirty="0" err="1" smtClean="0"/>
              <a:t>E-MAIL:info@rapidcharity.org</a:t>
            </a:r>
            <a:endParaRPr lang="en-US" sz="3600" dirty="0"/>
          </a:p>
        </p:txBody>
      </p:sp>
      <p:pic>
        <p:nvPicPr>
          <p:cNvPr id="7" name="Picture 6" descr="LOGO - Copy"/>
          <p:cNvPicPr>
            <a:picLocks noChangeAspect="1"/>
          </p:cNvPicPr>
          <p:nvPr/>
        </p:nvPicPr>
        <p:blipFill>
          <a:blip r:embed="rId1"/>
          <a:stretch>
            <a:fillRect/>
          </a:stretch>
        </p:blipFill>
        <p:spPr>
          <a:xfrm>
            <a:off x="6039485" y="509905"/>
            <a:ext cx="2512060" cy="215836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361950"/>
            <a:ext cx="8229600" cy="1201420"/>
          </a:xfrm>
        </p:spPr>
        <p:txBody>
          <a:bodyPr>
            <a:normAutofit/>
          </a:bodyPr>
          <a:lstStyle/>
          <a:p>
            <a:pPr algn="ctr"/>
            <a:r>
              <a:rPr lang="en-GB" b="1" dirty="0">
                <a:solidFill>
                  <a:schemeClr val="tx1"/>
                </a:solidFill>
              </a:rPr>
              <a:t>RAPID CHARITY</a:t>
            </a:r>
            <a:br>
              <a:rPr lang="en-GB" b="1" dirty="0">
                <a:solidFill>
                  <a:schemeClr val="tx1"/>
                </a:solidFill>
              </a:rPr>
            </a:br>
            <a:endParaRPr lang="en-GB" b="1" dirty="0">
              <a:solidFill>
                <a:schemeClr val="tx1"/>
              </a:solidFill>
            </a:endParaRPr>
          </a:p>
        </p:txBody>
      </p:sp>
      <p:sp>
        <p:nvSpPr>
          <p:cNvPr id="3" name="Content Placeholder 2"/>
          <p:cNvSpPr>
            <a:spLocks noGrp="1"/>
          </p:cNvSpPr>
          <p:nvPr>
            <p:ph idx="1"/>
          </p:nvPr>
        </p:nvSpPr>
        <p:spPr>
          <a:xfrm>
            <a:off x="774789" y="1563370"/>
            <a:ext cx="7594419" cy="1661667"/>
          </a:xfrm>
        </p:spPr>
        <p:txBody>
          <a:bodyPr>
            <a:normAutofit/>
          </a:bodyPr>
          <a:lstStyle/>
          <a:p>
            <a:pPr marL="0" indent="0" algn="ctr" fontAlgn="base">
              <a:buNone/>
            </a:pPr>
            <a:r>
              <a:rPr lang="en-GB" sz="2800" dirty="0">
                <a:solidFill>
                  <a:schemeClr val="tx1"/>
                </a:solidFill>
              </a:rPr>
              <a:t>Rapid Charity believes in the power of dream</a:t>
            </a:r>
            <a:endParaRPr lang="en-GB" sz="2800" dirty="0">
              <a:solidFill>
                <a:schemeClr val="tx1"/>
              </a:solidFill>
            </a:endParaRPr>
          </a:p>
          <a:p>
            <a:pPr marL="0" indent="0" algn="ctr" fontAlgn="base">
              <a:buNone/>
            </a:pPr>
            <a:r>
              <a:rPr lang="en-GB" sz="2800" dirty="0">
                <a:solidFill>
                  <a:schemeClr val="tx1"/>
                </a:solidFill>
              </a:rPr>
              <a:t>And our objective is to empower students to believe they can achieve their dreams</a:t>
            </a:r>
            <a:endParaRPr lang="en-GB" sz="2800" dirty="0">
              <a:solidFill>
                <a:schemeClr val="tx1"/>
              </a:solidFill>
            </a:endParaRPr>
          </a:p>
          <a:p>
            <a:pPr algn="ctr"/>
            <a:endParaRPr lang="en-GB" sz="2800" dirty="0">
              <a:solidFill>
                <a:schemeClr val="tx1"/>
              </a:solidFill>
            </a:endParaRPr>
          </a:p>
        </p:txBody>
      </p:sp>
      <p:sp>
        <p:nvSpPr>
          <p:cNvPr id="5" name="Content Placeholder 2"/>
          <p:cNvSpPr txBox="1"/>
          <p:nvPr/>
        </p:nvSpPr>
        <p:spPr>
          <a:xfrm>
            <a:off x="869673" y="4261104"/>
            <a:ext cx="7404653" cy="1993392"/>
          </a:xfrm>
          <a:prstGeom prst="rect">
            <a:avLst/>
          </a:prstGeom>
        </p:spPr>
        <p:txBody>
          <a:bodyPr vert="horz" lIns="91440" tIns="45720" rIns="91440" bIns="45720" rtlCol="0">
            <a:normAutofit lnSpcReduction="10000"/>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0" indent="0" algn="ctr" fontAlgn="base">
              <a:buFont typeface="Corbel" panose="020B0503020204020204" pitchFamily="34" charset="0"/>
              <a:buNone/>
            </a:pPr>
            <a:r>
              <a:rPr lang="en-GB" sz="2800" dirty="0" smtClean="0">
                <a:solidFill>
                  <a:schemeClr val="tx1"/>
                </a:solidFill>
              </a:rPr>
              <a:t> (RAPID) is a non-political, non-sectarian and non-profit organization registered in the United States of America, focusing on philanthropic goals with a commitment of serving those in need.</a:t>
            </a:r>
            <a:endParaRPr lang="en-GB" sz="2800" dirty="0" smtClean="0">
              <a:solidFill>
                <a:schemeClr val="tx1"/>
              </a:solidFill>
            </a:endParaRPr>
          </a:p>
          <a:p>
            <a:pPr marL="0" indent="0" fontAlgn="base">
              <a:buFont typeface="Corbel" panose="020B0503020204020204" pitchFamily="34" charset="0"/>
              <a:buNone/>
            </a:pPr>
            <a:endParaRPr lang="en-GB" sz="2800"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idx="1"/>
          </p:nvPr>
        </p:nvSpPr>
        <p:spPr>
          <a:xfrm>
            <a:off x="735330" y="1233432"/>
            <a:ext cx="7886700" cy="2076696"/>
          </a:xfrm>
        </p:spPr>
        <p:txBody>
          <a:bodyPr>
            <a:noAutofit/>
          </a:bodyPr>
          <a:lstStyle/>
          <a:p>
            <a:pPr marL="0" indent="0" algn="ctr">
              <a:buNone/>
            </a:pPr>
            <a:r>
              <a:rPr lang="en-GB" sz="3600" b="1" u="sng" dirty="0" smtClean="0">
                <a:solidFill>
                  <a:schemeClr val="tx1"/>
                </a:solidFill>
              </a:rPr>
              <a:t>Our Mission</a:t>
            </a:r>
            <a:r>
              <a:rPr lang="en-GB" sz="2800" b="1" dirty="0" smtClean="0">
                <a:solidFill>
                  <a:schemeClr val="tx1"/>
                </a:solidFill>
              </a:rPr>
              <a:t> </a:t>
            </a:r>
            <a:r>
              <a:rPr lang="en-GB" sz="2800" dirty="0" smtClean="0">
                <a:solidFill>
                  <a:schemeClr val="tx1"/>
                </a:solidFill>
              </a:rPr>
              <a:t>is to promote </a:t>
            </a:r>
            <a:r>
              <a:rPr lang="en-GB" sz="2800" dirty="0">
                <a:solidFill>
                  <a:schemeClr val="tx1"/>
                </a:solidFill>
              </a:rPr>
              <a:t>career based higher education amongst talented, qualified and aggressive young people, assisting them to realize</a:t>
            </a:r>
            <a:br>
              <a:rPr lang="en-GB" sz="2800" dirty="0">
                <a:solidFill>
                  <a:schemeClr val="tx1"/>
                </a:solidFill>
              </a:rPr>
            </a:br>
            <a:r>
              <a:rPr lang="en-GB" sz="2800" dirty="0">
                <a:solidFill>
                  <a:schemeClr val="tx1"/>
                </a:solidFill>
              </a:rPr>
              <a:t> their full potential in deprived and peripheral situations within the context of </a:t>
            </a:r>
            <a:r>
              <a:rPr lang="en-US" altLang="en-GB" sz="2800" dirty="0">
                <a:solidFill>
                  <a:schemeClr val="tx1"/>
                </a:solidFill>
              </a:rPr>
              <a:t>P</a:t>
            </a:r>
            <a:r>
              <a:rPr lang="en-GB" sz="2800" dirty="0">
                <a:solidFill>
                  <a:schemeClr val="tx1"/>
                </a:solidFill>
              </a:rPr>
              <a:t>akistan.</a:t>
            </a:r>
            <a:endParaRPr lang="en-GB" sz="2800" dirty="0">
              <a:solidFill>
                <a:schemeClr val="tx1"/>
              </a:solidFill>
            </a:endParaRPr>
          </a:p>
        </p:txBody>
      </p:sp>
      <p:sp>
        <p:nvSpPr>
          <p:cNvPr id="6" name="Text Placeholder 2"/>
          <p:cNvSpPr txBox="1"/>
          <p:nvPr/>
        </p:nvSpPr>
        <p:spPr>
          <a:xfrm>
            <a:off x="920115" y="4039744"/>
            <a:ext cx="7517130" cy="1912938"/>
          </a:xfrm>
          <a:prstGeom prst="rect">
            <a:avLst/>
          </a:prstGeom>
        </p:spPr>
        <p:txBody>
          <a:bodyPr vert="horz" lIns="91440" tIns="45720" rIns="91440" bIns="45720" rtlCol="0">
            <a:no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0" indent="0" algn="ctr">
              <a:buFont typeface="Corbel" panose="020B0503020204020204" pitchFamily="34" charset="0"/>
              <a:buNone/>
            </a:pPr>
            <a:r>
              <a:rPr lang="en-GB" sz="3600" b="1" u="sng" dirty="0" smtClean="0">
                <a:solidFill>
                  <a:schemeClr val="tx1"/>
                </a:solidFill>
              </a:rPr>
              <a:t>Our Goal</a:t>
            </a:r>
            <a:r>
              <a:rPr lang="en-GB" sz="2800" dirty="0" smtClean="0">
                <a:solidFill>
                  <a:schemeClr val="tx1"/>
                </a:solidFill>
              </a:rPr>
              <a:t> is encouraging students in rising to top professions in community, state and nation and thereby uplifting the needy students in minority communities of Pakistan.</a:t>
            </a:r>
            <a:endParaRPr lang="en-GB" sz="2800" dirty="0">
              <a:solidFill>
                <a:schemeClr val="tx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
            <a:ext cx="8229600" cy="982980"/>
          </a:xfrm>
        </p:spPr>
        <p:txBody>
          <a:bodyPr>
            <a:normAutofit fontScale="90000"/>
          </a:bodyPr>
          <a:lstStyle/>
          <a:p>
            <a:pPr algn="ctr" fontAlgn="base"/>
            <a:br>
              <a:rPr lang="en-GB" b="1" dirty="0">
                <a:solidFill>
                  <a:schemeClr val="tx1"/>
                </a:solidFill>
              </a:rPr>
            </a:br>
            <a:r>
              <a:rPr lang="en-GB" b="1" dirty="0">
                <a:solidFill>
                  <a:schemeClr val="tx1"/>
                </a:solidFill>
              </a:rPr>
              <a:t>OUR </a:t>
            </a:r>
            <a:r>
              <a:rPr lang="en-GB" b="1" dirty="0" smtClean="0">
                <a:solidFill>
                  <a:schemeClr val="tx1"/>
                </a:solidFill>
              </a:rPr>
              <a:t>OBJECTIVES</a:t>
            </a:r>
            <a:br>
              <a:rPr lang="en-GB" b="1" dirty="0">
                <a:solidFill>
                  <a:schemeClr val="tx1"/>
                </a:solidFill>
              </a:rPr>
            </a:br>
            <a:endParaRPr lang="en-GB" b="1" dirty="0">
              <a:solidFill>
                <a:schemeClr val="tx1"/>
              </a:solidFill>
            </a:endParaRPr>
          </a:p>
        </p:txBody>
      </p:sp>
      <p:sp>
        <p:nvSpPr>
          <p:cNvPr id="3" name="Text Placeholder 2"/>
          <p:cNvSpPr>
            <a:spLocks noGrp="1"/>
          </p:cNvSpPr>
          <p:nvPr>
            <p:ph idx="1"/>
          </p:nvPr>
        </p:nvSpPr>
        <p:spPr>
          <a:xfrm>
            <a:off x="470535" y="1290955"/>
            <a:ext cx="8216265" cy="2074037"/>
          </a:xfrm>
        </p:spPr>
        <p:txBody>
          <a:bodyPr>
            <a:noAutofit/>
          </a:bodyPr>
          <a:lstStyle/>
          <a:p>
            <a:pPr marL="0" indent="0" algn="ctr">
              <a:buNone/>
            </a:pPr>
            <a:r>
              <a:rPr lang="en-GB" sz="2800" dirty="0" smtClean="0">
                <a:solidFill>
                  <a:schemeClr val="tx1"/>
                </a:solidFill>
              </a:rPr>
              <a:t>To </a:t>
            </a:r>
            <a:r>
              <a:rPr lang="en-GB" sz="2800" dirty="0">
                <a:solidFill>
                  <a:schemeClr val="tx1"/>
                </a:solidFill>
              </a:rPr>
              <a:t>give / distribute donor funding to financially poor and able individuals in need, by making charitable giving positive for purposes of leading to advancement of education in professional / career development, self reliance and confidence building.</a:t>
            </a:r>
            <a:br>
              <a:rPr lang="en-GB" sz="2800" dirty="0">
                <a:solidFill>
                  <a:schemeClr val="tx1"/>
                </a:solidFill>
              </a:rPr>
            </a:br>
            <a:r>
              <a:rPr lang="en-GB" sz="2800" dirty="0">
                <a:solidFill>
                  <a:schemeClr val="tx1"/>
                </a:solidFill>
              </a:rPr>
              <a:t>​</a:t>
            </a:r>
            <a:endParaRPr lang="en-GB" sz="2800" dirty="0">
              <a:solidFill>
                <a:schemeClr val="tx1"/>
              </a:solidFill>
            </a:endParaRPr>
          </a:p>
        </p:txBody>
      </p:sp>
      <p:sp>
        <p:nvSpPr>
          <p:cNvPr id="4" name="Text Placeholder 2"/>
          <p:cNvSpPr txBox="1"/>
          <p:nvPr/>
        </p:nvSpPr>
        <p:spPr>
          <a:xfrm>
            <a:off x="365760" y="3809129"/>
            <a:ext cx="8203473" cy="1924096"/>
          </a:xfrm>
          <a:prstGeom prst="rect">
            <a:avLst/>
          </a:prstGeom>
        </p:spPr>
        <p:txBody>
          <a:bodyPr vert="horz" lIns="91440" tIns="45720" rIns="91440" bIns="45720" rtlCol="0">
            <a:no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0" indent="0" algn="ctr">
              <a:buFont typeface="Corbel" panose="020B0503020204020204" pitchFamily="34" charset="0"/>
              <a:buNone/>
            </a:pPr>
            <a:r>
              <a:rPr lang="en-GB" sz="2800" dirty="0" smtClean="0">
                <a:solidFill>
                  <a:schemeClr val="tx1"/>
                </a:solidFill>
              </a:rPr>
              <a:t>To encourage activities leading to the implementations of Peace, with the goal of building Trust and Cooperation amongst different faith communities through joint programs.</a:t>
            </a:r>
            <a:endParaRPr lang="en-GB" sz="2800" dirty="0" smtClean="0">
              <a:solidFill>
                <a:schemeClr val="tx1"/>
              </a:solidFill>
            </a:endParaRPr>
          </a:p>
          <a:p>
            <a:pPr marL="0" indent="0" algn="ctr">
              <a:buFont typeface="Corbel" panose="020B0503020204020204" pitchFamily="34" charset="0"/>
              <a:buNone/>
            </a:pPr>
            <a:endParaRPr lang="en-GB" sz="2800" dirty="0" smtClean="0">
              <a:solidFill>
                <a:schemeClr val="tx1"/>
              </a:solidFill>
            </a:endParaRPr>
          </a:p>
          <a:p>
            <a:pPr marL="0" indent="0" algn="ctr">
              <a:buFont typeface="Corbel" panose="020B0503020204020204" pitchFamily="34" charset="0"/>
              <a:buNone/>
            </a:pPr>
            <a:br>
              <a:rPr lang="en-GB" sz="2800" dirty="0" smtClean="0">
                <a:solidFill>
                  <a:schemeClr val="tx1"/>
                </a:solidFill>
              </a:rPr>
            </a:br>
            <a:endParaRPr lang="en-GB" sz="2800" dirty="0" smtClean="0">
              <a:solidFill>
                <a:schemeClr val="tx1"/>
              </a:solidFill>
            </a:endParaRPr>
          </a:p>
          <a:p>
            <a:pPr marL="0" indent="0" algn="ctr">
              <a:buFont typeface="Corbel" panose="020B0503020204020204" pitchFamily="34" charset="0"/>
              <a:buNone/>
            </a:pPr>
            <a:br>
              <a:rPr lang="en-GB" sz="2800" dirty="0" smtClean="0">
                <a:solidFill>
                  <a:schemeClr val="tx1"/>
                </a:solidFill>
              </a:rPr>
            </a:br>
            <a:endParaRPr lang="en-GB" sz="2800"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365760" y="1541417"/>
            <a:ext cx="8203473" cy="1832719"/>
          </a:xfrm>
        </p:spPr>
        <p:txBody>
          <a:bodyPr>
            <a:noAutofit/>
          </a:bodyPr>
          <a:lstStyle/>
          <a:p>
            <a:pPr marL="0" indent="0" algn="ctr">
              <a:buNone/>
            </a:pPr>
            <a:r>
              <a:rPr lang="en-GB" sz="2800" dirty="0">
                <a:solidFill>
                  <a:schemeClr val="tx1"/>
                </a:solidFill>
              </a:rPr>
              <a:t>To organize, encourage, conduct and participate in development programs and training courses for promoting the rights and dignity of all people, with emphasis on better utilization of local resources</a:t>
            </a:r>
            <a:r>
              <a:rPr lang="en-GB" sz="2800" dirty="0" smtClean="0">
                <a:solidFill>
                  <a:schemeClr val="tx1"/>
                </a:solidFill>
              </a:rPr>
              <a:t>.</a:t>
            </a:r>
            <a:endParaRPr lang="en-GB" sz="2800" dirty="0" smtClean="0">
              <a:solidFill>
                <a:schemeClr val="tx1"/>
              </a:solidFill>
            </a:endParaRPr>
          </a:p>
          <a:p>
            <a:pPr marL="0" indent="0" algn="ctr">
              <a:buNone/>
            </a:pPr>
            <a:endParaRPr lang="en-GB" sz="2800" dirty="0" smtClean="0">
              <a:solidFill>
                <a:schemeClr val="tx1"/>
              </a:solidFill>
            </a:endParaRPr>
          </a:p>
          <a:p>
            <a:pPr marL="0" indent="0" algn="ctr">
              <a:buNone/>
            </a:pPr>
            <a:br>
              <a:rPr lang="en-GB" sz="2800" dirty="0">
                <a:solidFill>
                  <a:schemeClr val="tx1"/>
                </a:solidFill>
              </a:rPr>
            </a:br>
            <a:endParaRPr lang="en-GB" sz="2800" dirty="0" smtClean="0">
              <a:solidFill>
                <a:schemeClr val="tx1"/>
              </a:solidFill>
            </a:endParaRPr>
          </a:p>
          <a:p>
            <a:pPr marL="0" indent="0" algn="ctr">
              <a:buNone/>
            </a:pPr>
            <a:br>
              <a:rPr lang="en-GB" sz="2800" dirty="0">
                <a:solidFill>
                  <a:schemeClr val="tx1"/>
                </a:solidFill>
              </a:rPr>
            </a:br>
            <a:endParaRPr lang="en-GB" sz="2800" dirty="0">
              <a:solidFill>
                <a:schemeClr val="tx1"/>
              </a:solidFill>
            </a:endParaRPr>
          </a:p>
        </p:txBody>
      </p:sp>
      <p:sp>
        <p:nvSpPr>
          <p:cNvPr id="5" name="Text Placeholder 2"/>
          <p:cNvSpPr txBox="1"/>
          <p:nvPr/>
        </p:nvSpPr>
        <p:spPr>
          <a:xfrm>
            <a:off x="365760" y="3895344"/>
            <a:ext cx="8203473" cy="1956815"/>
          </a:xfrm>
          <a:prstGeom prst="rect">
            <a:avLst/>
          </a:prstGeom>
        </p:spPr>
        <p:txBody>
          <a:bodyPr vert="horz" lIns="91440" tIns="45720" rIns="91440" bIns="45720" rtlCol="0">
            <a:no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0" indent="0" algn="ctr">
              <a:buFont typeface="Corbel" panose="020B0503020204020204" pitchFamily="34" charset="0"/>
              <a:buNone/>
            </a:pPr>
            <a:r>
              <a:rPr lang="en-GB" sz="2800" dirty="0" smtClean="0">
                <a:solidFill>
                  <a:schemeClr val="tx1"/>
                </a:solidFill>
              </a:rPr>
              <a:t>To work with medical centres, nursing homes, orphanages and centres for the mentally and physically disabled, in order to equip and help the beneficiaries to acquire quality of life.</a:t>
            </a:r>
            <a:endParaRPr lang="en-GB" sz="2800" dirty="0" smtClean="0">
              <a:solidFill>
                <a:schemeClr val="tx1"/>
              </a:solidFill>
            </a:endParaRPr>
          </a:p>
          <a:p>
            <a:pPr marL="0" indent="0" algn="ctr">
              <a:buFont typeface="Corbel" panose="020B0503020204020204" pitchFamily="34" charset="0"/>
              <a:buNone/>
            </a:pPr>
            <a:br>
              <a:rPr lang="en-GB" sz="2800" dirty="0" smtClean="0">
                <a:solidFill>
                  <a:schemeClr val="tx1"/>
                </a:solidFill>
              </a:rPr>
            </a:br>
            <a:endParaRPr lang="en-GB" sz="2800" dirty="0" smtClean="0">
              <a:solidFill>
                <a:schemeClr val="tx1"/>
              </a:solidFill>
            </a:endParaRPr>
          </a:p>
          <a:p>
            <a:pPr marL="0" indent="0" algn="ctr">
              <a:buFont typeface="Corbel" panose="020B0503020204020204" pitchFamily="34" charset="0"/>
              <a:buNone/>
            </a:pPr>
            <a:br>
              <a:rPr lang="en-GB" sz="2800" dirty="0" smtClean="0">
                <a:solidFill>
                  <a:schemeClr val="tx1"/>
                </a:solidFill>
              </a:rPr>
            </a:br>
            <a:endParaRPr lang="en-GB" sz="2800" dirty="0">
              <a:solidFill>
                <a:schemeClr val="tx1"/>
              </a:solidFill>
            </a:endParaRPr>
          </a:p>
        </p:txBody>
      </p:sp>
      <p:sp>
        <p:nvSpPr>
          <p:cNvPr id="2" name="Title 1"/>
          <p:cNvSpPr>
            <a:spLocks noGrp="1"/>
          </p:cNvSpPr>
          <p:nvPr>
            <p:ph type="title"/>
          </p:nvPr>
        </p:nvSpPr>
        <p:spPr>
          <a:xfrm>
            <a:off x="457200" y="190500"/>
            <a:ext cx="8229600" cy="982980"/>
          </a:xfrm>
        </p:spPr>
        <p:txBody>
          <a:bodyPr>
            <a:normAutofit fontScale="90000"/>
          </a:bodyPr>
          <a:p>
            <a:pPr algn="ctr" fontAlgn="base"/>
            <a:br>
              <a:rPr lang="en-GB" b="1" dirty="0">
                <a:solidFill>
                  <a:schemeClr val="tx1"/>
                </a:solidFill>
              </a:rPr>
            </a:br>
            <a:r>
              <a:rPr lang="en-GB" b="1" dirty="0">
                <a:solidFill>
                  <a:schemeClr val="tx1"/>
                </a:solidFill>
              </a:rPr>
              <a:t>OUR </a:t>
            </a:r>
            <a:r>
              <a:rPr lang="en-GB" b="1" dirty="0" smtClean="0">
                <a:solidFill>
                  <a:schemeClr val="tx1"/>
                </a:solidFill>
              </a:rPr>
              <a:t>OBJECTIVES</a:t>
            </a:r>
            <a:br>
              <a:rPr lang="en-GB" b="1" dirty="0">
                <a:solidFill>
                  <a:schemeClr val="tx1"/>
                </a:solidFill>
              </a:rPr>
            </a:br>
            <a:endParaRPr lang="en-GB" b="1"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p:nvPr/>
        </p:nvSpPr>
        <p:spPr>
          <a:xfrm>
            <a:off x="748665" y="1455420"/>
            <a:ext cx="7808595" cy="4523105"/>
          </a:xfrm>
          <a:prstGeom prst="rect">
            <a:avLst/>
          </a:prstGeom>
          <a:noFill/>
        </p:spPr>
        <p:txBody>
          <a:bodyPr wrap="square" rtlCol="0" anchor="t">
            <a:spAutoFit/>
          </a:bodyPr>
          <a:lstStyle/>
          <a:p>
            <a:pPr algn="ctr"/>
            <a:r>
              <a:rPr lang="en-US" sz="4800" b="1" dirty="0" smtClean="0">
                <a:sym typeface="+mn-ea"/>
              </a:rPr>
              <a:t>Narrative Report of the RAPID Higher Education Scholarships Program</a:t>
            </a:r>
            <a:endParaRPr lang="en-US" sz="4800" b="1" dirty="0" smtClean="0">
              <a:sym typeface="+mn-ea"/>
            </a:endParaRPr>
          </a:p>
          <a:p>
            <a:pPr algn="ctr"/>
            <a:endParaRPr lang="en-US" sz="4800" b="1" dirty="0" smtClean="0">
              <a:sym typeface="+mn-ea"/>
            </a:endParaRPr>
          </a:p>
          <a:p>
            <a:pPr algn="ctr"/>
            <a:r>
              <a:rPr lang="en-US" sz="4800" b="1" dirty="0" smtClean="0">
                <a:sym typeface="+mn-ea"/>
              </a:rPr>
              <a:t>  From January to August 2025</a:t>
            </a:r>
            <a:endParaRPr lang="en-US" sz="4800" b="1" dirty="0" smtClean="0">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p:nvPr/>
        </p:nvSpPr>
        <p:spPr>
          <a:xfrm>
            <a:off x="971550" y="1963420"/>
            <a:ext cx="7216775" cy="3046095"/>
          </a:xfrm>
          <a:prstGeom prst="rect">
            <a:avLst/>
          </a:prstGeom>
          <a:noFill/>
        </p:spPr>
        <p:txBody>
          <a:bodyPr wrap="square" rtlCol="0" anchor="t">
            <a:spAutoFit/>
          </a:bodyPr>
          <a:lstStyle/>
          <a:p>
            <a:pPr algn="ctr"/>
            <a:r>
              <a:rPr lang="en-US" sz="4800" b="1" dirty="0" smtClean="0">
                <a:sym typeface="+mn-ea"/>
              </a:rPr>
              <a:t>RAPID Offered the following  Scholarships for Spring 2025 and Fall 2025 Semesters</a:t>
            </a:r>
            <a:endParaRPr lang="en-US" sz="4800" b="1" dirty="0" smtClean="0">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842" y="641237"/>
            <a:ext cx="7886700" cy="994172"/>
          </a:xfrm>
        </p:spPr>
        <p:txBody>
          <a:bodyPr>
            <a:normAutofit fontScale="90000"/>
          </a:bodyPr>
          <a:lstStyle/>
          <a:p>
            <a:pPr algn="ctr"/>
            <a:br>
              <a:rPr lang="en-US" b="1" dirty="0">
                <a:solidFill>
                  <a:schemeClr val="tx1"/>
                </a:solidFill>
              </a:rPr>
            </a:br>
            <a:r>
              <a:rPr lang="en-US" b="1" dirty="0" smtClean="0">
                <a:solidFill>
                  <a:schemeClr val="tx1"/>
                </a:solidFill>
              </a:rPr>
              <a:t> </a:t>
            </a:r>
            <a:r>
              <a:rPr lang="en-GB" b="1" dirty="0" smtClean="0">
                <a:solidFill>
                  <a:schemeClr val="tx1"/>
                </a:solidFill>
              </a:rPr>
              <a:t>JOHN-IVY </a:t>
            </a:r>
            <a:r>
              <a:rPr lang="en-GB" b="1" dirty="0">
                <a:solidFill>
                  <a:schemeClr val="tx1"/>
                </a:solidFill>
              </a:rPr>
              <a:t>AZARIAH </a:t>
            </a:r>
            <a:r>
              <a:rPr lang="en-GB" b="1" dirty="0" smtClean="0">
                <a:solidFill>
                  <a:schemeClr val="tx1"/>
                </a:solidFill>
              </a:rPr>
              <a:t>SCHOLARSHIP</a:t>
            </a:r>
            <a:endParaRPr lang="en-GB" b="1" dirty="0" smtClean="0">
              <a:solidFill>
                <a:schemeClr val="tx1"/>
              </a:solidFill>
            </a:endParaRPr>
          </a:p>
        </p:txBody>
      </p:sp>
      <p:sp>
        <p:nvSpPr>
          <p:cNvPr id="3" name="Content Placeholder 2"/>
          <p:cNvSpPr>
            <a:spLocks noGrp="1"/>
          </p:cNvSpPr>
          <p:nvPr>
            <p:ph idx="1"/>
          </p:nvPr>
        </p:nvSpPr>
        <p:spPr>
          <a:xfrm>
            <a:off x="958850" y="2050415"/>
            <a:ext cx="7211060" cy="3124835"/>
          </a:xfrm>
        </p:spPr>
        <p:txBody>
          <a:bodyPr>
            <a:noAutofit/>
          </a:bodyPr>
          <a:lstStyle/>
          <a:p>
            <a:pPr marL="34290" indent="0" algn="ctr">
              <a:buNone/>
            </a:pPr>
            <a:r>
              <a:rPr lang="en-US" sz="2800" dirty="0" smtClean="0">
                <a:solidFill>
                  <a:schemeClr val="tx1"/>
                </a:solidFill>
              </a:rPr>
              <a:t>We </a:t>
            </a:r>
            <a:r>
              <a:rPr lang="en-US" sz="2800" dirty="0">
                <a:solidFill>
                  <a:schemeClr val="tx1"/>
                </a:solidFill>
              </a:rPr>
              <a:t>are offering J-IA Scholarship to students who are admitted in professional colleges and universities. </a:t>
            </a:r>
            <a:endParaRPr lang="en-US" sz="2800" dirty="0">
              <a:solidFill>
                <a:schemeClr val="tx1"/>
              </a:solidFill>
            </a:endParaRPr>
          </a:p>
          <a:p>
            <a:pPr marL="34290" indent="0" algn="ctr">
              <a:buNone/>
            </a:pPr>
            <a:r>
              <a:rPr lang="en-US" sz="2800" dirty="0">
                <a:solidFill>
                  <a:schemeClr val="tx1"/>
                </a:solidFill>
              </a:rPr>
              <a:t>Preference is given to high achiever needing financial assistance having scores of (GPA-3.5 &amp; above) </a:t>
            </a:r>
            <a:r>
              <a:rPr lang="en-US" sz="2800" dirty="0" smtClean="0">
                <a:solidFill>
                  <a:schemeClr val="tx1"/>
                </a:solidFill>
              </a:rPr>
              <a:t> </a:t>
            </a:r>
            <a:r>
              <a:rPr lang="en-US" sz="2800" dirty="0">
                <a:solidFill>
                  <a:schemeClr val="tx1"/>
                </a:solidFill>
              </a:rPr>
              <a:t>(grade A+). </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842" y="641237"/>
            <a:ext cx="7886700" cy="994172"/>
          </a:xfrm>
        </p:spPr>
        <p:txBody>
          <a:bodyPr>
            <a:normAutofit fontScale="90000"/>
          </a:bodyPr>
          <a:lstStyle/>
          <a:p>
            <a:pPr algn="ctr"/>
            <a:br>
              <a:rPr lang="en-US" b="1" dirty="0">
                <a:solidFill>
                  <a:schemeClr val="tx1"/>
                </a:solidFill>
              </a:rPr>
            </a:br>
            <a:r>
              <a:rPr lang="en-US" b="1" dirty="0" smtClean="0">
                <a:solidFill>
                  <a:schemeClr val="tx1"/>
                </a:solidFill>
              </a:rPr>
              <a:t> ROBERT MATHIAS </a:t>
            </a:r>
            <a:r>
              <a:rPr lang="en-GB" b="1" dirty="0" smtClean="0">
                <a:solidFill>
                  <a:schemeClr val="tx1"/>
                </a:solidFill>
              </a:rPr>
              <a:t>SCHOLARSHIP</a:t>
            </a:r>
            <a:endParaRPr lang="en-GB" b="1" dirty="0" smtClean="0">
              <a:solidFill>
                <a:schemeClr val="tx1"/>
              </a:solidFill>
            </a:endParaRPr>
          </a:p>
        </p:txBody>
      </p:sp>
      <p:sp>
        <p:nvSpPr>
          <p:cNvPr id="3" name="Content Placeholder 2"/>
          <p:cNvSpPr>
            <a:spLocks noGrp="1"/>
          </p:cNvSpPr>
          <p:nvPr>
            <p:ph idx="1"/>
          </p:nvPr>
        </p:nvSpPr>
        <p:spPr>
          <a:xfrm>
            <a:off x="1296670" y="2059305"/>
            <a:ext cx="6535420" cy="4598670"/>
          </a:xfrm>
        </p:spPr>
        <p:txBody>
          <a:bodyPr>
            <a:noAutofit/>
          </a:bodyPr>
          <a:lstStyle/>
          <a:p>
            <a:pPr marL="34290" indent="0" algn="ctr">
              <a:buNone/>
            </a:pPr>
            <a:r>
              <a:rPr lang="en-US" sz="2800" dirty="0" smtClean="0">
                <a:solidFill>
                  <a:schemeClr val="tx1"/>
                </a:solidFill>
              </a:rPr>
              <a:t>We </a:t>
            </a:r>
            <a:r>
              <a:rPr lang="en-US" sz="2800" dirty="0">
                <a:solidFill>
                  <a:schemeClr val="tx1"/>
                </a:solidFill>
              </a:rPr>
              <a:t>are offering RMS to students who are studying Business and Accounting in professional colleges and universities. </a:t>
            </a:r>
            <a:endParaRPr lang="en-US" sz="2800" dirty="0">
              <a:solidFill>
                <a:schemeClr val="tx1"/>
              </a:solidFill>
            </a:endParaRPr>
          </a:p>
          <a:p>
            <a:pPr marL="34290" indent="0" algn="ctr">
              <a:buNone/>
            </a:pPr>
            <a:r>
              <a:rPr lang="en-US" sz="2800" dirty="0">
                <a:solidFill>
                  <a:schemeClr val="tx1"/>
                </a:solidFill>
              </a:rPr>
              <a:t>Preference is given to high achiever needing financial assistance having scores of (GPA-3.5 &amp; above) </a:t>
            </a:r>
            <a:r>
              <a:rPr lang="en-US" sz="2800" dirty="0" smtClean="0">
                <a:solidFill>
                  <a:schemeClr val="tx1"/>
                </a:solidFill>
              </a:rPr>
              <a:t> </a:t>
            </a:r>
            <a:r>
              <a:rPr lang="en-US" sz="2800" dirty="0">
                <a:solidFill>
                  <a:schemeClr val="tx1"/>
                </a:solidFill>
              </a:rPr>
              <a:t>(grade A+). </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842" y="641237"/>
            <a:ext cx="7886700" cy="994172"/>
          </a:xfrm>
        </p:spPr>
        <p:txBody>
          <a:bodyPr>
            <a:normAutofit fontScale="90000"/>
          </a:bodyPr>
          <a:lstStyle/>
          <a:p>
            <a:pPr algn="ctr"/>
            <a:br>
              <a:rPr lang="en-US" b="1" dirty="0">
                <a:solidFill>
                  <a:schemeClr val="tx1"/>
                </a:solidFill>
              </a:rPr>
            </a:br>
            <a:r>
              <a:rPr lang="en-US" b="1" dirty="0" smtClean="0">
                <a:solidFill>
                  <a:schemeClr val="tx1"/>
                </a:solidFill>
              </a:rPr>
              <a:t> IVY AZARIAH </a:t>
            </a:r>
            <a:r>
              <a:rPr lang="en-GB" b="1" dirty="0" smtClean="0">
                <a:solidFill>
                  <a:schemeClr val="tx1"/>
                </a:solidFill>
              </a:rPr>
              <a:t>SCHOLARSHIP</a:t>
            </a:r>
            <a:endParaRPr lang="en-GB" b="1" dirty="0" smtClean="0">
              <a:solidFill>
                <a:schemeClr val="tx1"/>
              </a:solidFill>
            </a:endParaRPr>
          </a:p>
        </p:txBody>
      </p:sp>
      <p:sp>
        <p:nvSpPr>
          <p:cNvPr id="3" name="Content Placeholder 2"/>
          <p:cNvSpPr>
            <a:spLocks noGrp="1"/>
          </p:cNvSpPr>
          <p:nvPr>
            <p:ph idx="1"/>
          </p:nvPr>
        </p:nvSpPr>
        <p:spPr>
          <a:xfrm>
            <a:off x="1503680" y="2050415"/>
            <a:ext cx="6136005" cy="3590290"/>
          </a:xfrm>
        </p:spPr>
        <p:txBody>
          <a:bodyPr>
            <a:noAutofit/>
          </a:bodyPr>
          <a:lstStyle/>
          <a:p>
            <a:pPr marL="34290" indent="0" algn="ctr">
              <a:buNone/>
            </a:pPr>
            <a:r>
              <a:rPr lang="en-US" altLang="en-US" sz="2800">
                <a:solidFill>
                  <a:schemeClr val="tx1"/>
                </a:solidFill>
              </a:rPr>
              <a:t>This Scholarship is awarded to Female individuals who are not looking for just making themselves better, but how they could be an important part in the development of others </a:t>
            </a:r>
            <a:endParaRPr lang="en-US" altLang="en-US" sz="280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scene3d>
              <a:camera prst="orthographicFront"/>
              <a:lightRig rig="threePt" dir="t"/>
            </a:scene3d>
          </a:bodyPr>
          <a:p>
            <a:r>
              <a:rPr lang="en-GB" sz="4800" b="1" dirty="0" smtClean="0">
                <a:ln/>
                <a:solidFill>
                  <a:schemeClr val="accent1"/>
                </a:solidFill>
                <a:effectLst>
                  <a:outerShdw blurRad="38100" dist="25400" dir="5400000" algn="ctr" rotWithShape="0">
                    <a:srgbClr val="6E747A">
                      <a:alpha val="43000"/>
                    </a:srgbClr>
                  </a:outerShdw>
                </a:effectLst>
                <a:sym typeface="+mn-ea"/>
              </a:rPr>
              <a:t>Procedure for Selection</a:t>
            </a:r>
            <a:endParaRPr lang="en-GB" sz="4800" b="1" dirty="0" smtClean="0">
              <a:ln/>
              <a:solidFill>
                <a:schemeClr val="accent1"/>
              </a:solidFill>
              <a:effectLst>
                <a:outerShdw blurRad="38100" dist="25400" dir="5400000" algn="ctr" rotWithShape="0">
                  <a:srgbClr val="6E747A">
                    <a:alpha val="43000"/>
                  </a:srgbClr>
                </a:outerShdw>
              </a:effectLst>
              <a:sym typeface="+mn-ea"/>
            </a:endParaRPr>
          </a:p>
        </p:txBody>
      </p:sp>
      <p:sp>
        <p:nvSpPr>
          <p:cNvPr id="5" name="Text Placeholder 4"/>
          <p:cNvSpPr>
            <a:spLocks noGrp="1"/>
          </p:cNvSpPr>
          <p:nvPr>
            <p:ph type="body" idx="1"/>
          </p:nvPr>
        </p:nvSpPr>
        <p:spPr/>
        <p:txBody>
          <a:bodyPr/>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all 2025"/>
          <p:cNvPicPr>
            <a:picLocks noChangeAspect="1"/>
          </p:cNvPicPr>
          <p:nvPr/>
        </p:nvPicPr>
        <p:blipFill>
          <a:blip r:embed="rId1"/>
          <a:stretch>
            <a:fillRect/>
          </a:stretch>
        </p:blipFill>
        <p:spPr>
          <a:xfrm>
            <a:off x="332740" y="414655"/>
            <a:ext cx="5271770" cy="5271770"/>
          </a:xfrm>
          <a:prstGeom prst="rect">
            <a:avLst/>
          </a:prstGeom>
        </p:spPr>
      </p:pic>
      <p:sp>
        <p:nvSpPr>
          <p:cNvPr id="3" name="Text Box 2"/>
          <p:cNvSpPr txBox="1"/>
          <p:nvPr/>
        </p:nvSpPr>
        <p:spPr>
          <a:xfrm>
            <a:off x="5941060" y="1306830"/>
            <a:ext cx="3048000" cy="4154170"/>
          </a:xfrm>
          <a:prstGeom prst="rect">
            <a:avLst/>
          </a:prstGeom>
          <a:noFill/>
        </p:spPr>
        <p:txBody>
          <a:bodyPr wrap="square" rtlCol="0">
            <a:spAutoFit/>
          </a:bodyPr>
          <a:lstStyle/>
          <a:p>
            <a:r>
              <a:rPr lang="en-US" altLang="en-US" sz="2400"/>
              <a:t>Messages and pamphlets were circulated through our website, WhatsApp, and other social media platforms to students. These messages were also sent to Christian colleges and universities.</a:t>
            </a:r>
            <a:endParaRPr lang="en-US" altLang="en-US" sz="2400"/>
          </a:p>
          <a:p>
            <a:r>
              <a:rPr lang="en-US" sz="2400"/>
              <a:t> </a:t>
            </a: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5636"/>
            <a:ext cx="8229600" cy="983615"/>
          </a:xfrm>
        </p:spPr>
        <p:txBody>
          <a:bodyPr>
            <a:normAutofit fontScale="90000"/>
            <a:scene3d>
              <a:camera prst="orthographicFront"/>
              <a:lightRig rig="threePt" dir="t"/>
            </a:scene3d>
          </a:bodyPr>
          <a:lstStyle/>
          <a:p>
            <a:pPr algn="ctr"/>
            <a:br>
              <a:rPr lang="en-GB" b="1" dirty="0" smtClean="0">
                <a:ln/>
                <a:solidFill>
                  <a:schemeClr val="accent1"/>
                </a:solidFill>
                <a:effectLst>
                  <a:outerShdw blurRad="38100" dist="25400" dir="5400000" algn="ctr" rotWithShape="0">
                    <a:srgbClr val="6E747A">
                      <a:alpha val="43000"/>
                    </a:srgbClr>
                  </a:outerShdw>
                </a:effectLst>
              </a:rPr>
            </a:br>
            <a:r>
              <a:rPr lang="en-GB" b="1" dirty="0" smtClean="0">
                <a:ln/>
                <a:solidFill>
                  <a:schemeClr val="accent1"/>
                </a:solidFill>
                <a:effectLst>
                  <a:outerShdw blurRad="38100" dist="25400" dir="5400000" algn="ctr" rotWithShape="0">
                    <a:srgbClr val="6E747A">
                      <a:alpha val="43000"/>
                    </a:srgbClr>
                  </a:outerShdw>
                </a:effectLst>
              </a:rPr>
              <a:t>Procedure for Selection of students for the Spring</a:t>
            </a:r>
            <a:r>
              <a:rPr lang="en-US" altLang="en-GB" b="1" dirty="0" smtClean="0">
                <a:ln/>
                <a:solidFill>
                  <a:schemeClr val="accent1"/>
                </a:solidFill>
                <a:effectLst>
                  <a:outerShdw blurRad="38100" dist="25400" dir="5400000" algn="ctr" rotWithShape="0">
                    <a:srgbClr val="6E747A">
                      <a:alpha val="43000"/>
                    </a:srgbClr>
                  </a:outerShdw>
                </a:effectLst>
              </a:rPr>
              <a:t> &amp; Fall</a:t>
            </a:r>
            <a:r>
              <a:rPr lang="en-GB" b="1" dirty="0" smtClean="0">
                <a:ln/>
                <a:solidFill>
                  <a:schemeClr val="accent1"/>
                </a:solidFill>
                <a:effectLst>
                  <a:outerShdw blurRad="38100" dist="25400" dir="5400000" algn="ctr" rotWithShape="0">
                    <a:srgbClr val="6E747A">
                      <a:alpha val="43000"/>
                    </a:srgbClr>
                  </a:outerShdw>
                </a:effectLst>
              </a:rPr>
              <a:t> 2025 Semester</a:t>
            </a:r>
            <a:endParaRPr lang="en-GB" b="1" dirty="0" smtClean="0">
              <a:ln/>
              <a:solidFill>
                <a:schemeClr val="accent1"/>
              </a:solidFill>
              <a:effectLst>
                <a:outerShdw blurRad="38100" dist="25400" dir="5400000" algn="ctr" rotWithShape="0">
                  <a:srgbClr val="6E747A">
                    <a:alpha val="43000"/>
                  </a:srgbClr>
                </a:outerShdw>
              </a:effectLst>
            </a:endParaRPr>
          </a:p>
        </p:txBody>
      </p:sp>
      <p:sp>
        <p:nvSpPr>
          <p:cNvPr id="3" name="Content Placeholder 2"/>
          <p:cNvSpPr>
            <a:spLocks noGrp="1"/>
          </p:cNvSpPr>
          <p:nvPr>
            <p:ph idx="1"/>
          </p:nvPr>
        </p:nvSpPr>
        <p:spPr>
          <a:xfrm>
            <a:off x="1060767" y="2026539"/>
            <a:ext cx="6889115" cy="2879090"/>
          </a:xfrm>
        </p:spPr>
        <p:txBody>
          <a:bodyPr>
            <a:noAutofit/>
          </a:bodyPr>
          <a:lstStyle/>
          <a:p>
            <a:pPr marL="0" indent="0" algn="l" fontAlgn="base">
              <a:buNone/>
            </a:pPr>
            <a:r>
              <a:rPr lang="en-US" altLang="en-US" sz="3600" b="1" u="sng" dirty="0" smtClean="0">
                <a:solidFill>
                  <a:schemeClr val="tx1"/>
                </a:solidFill>
              </a:rPr>
              <a:t>Step 1: Online Application</a:t>
            </a:r>
            <a:endParaRPr lang="en-US" altLang="en-US" sz="3600" dirty="0" smtClean="0">
              <a:solidFill>
                <a:schemeClr val="tx1"/>
              </a:solidFill>
            </a:endParaRPr>
          </a:p>
          <a:p>
            <a:pPr marL="0" indent="0" algn="ctr" fontAlgn="base">
              <a:buNone/>
            </a:pPr>
            <a:r>
              <a:rPr lang="en-US" altLang="en-US" sz="2800" dirty="0" smtClean="0">
                <a:solidFill>
                  <a:schemeClr val="tx1"/>
                </a:solidFill>
              </a:rPr>
              <a:t>Applicants from all over Pakistan applied online for scholarships offered by RAPID through the website (www.rapidcharity.org ) The deadline for Spring 2025 semester was 15th October 2024, and for Fall 2025 semester it was 15th April 2025</a:t>
            </a:r>
            <a:endParaRPr lang="en-US" altLang="en-US" sz="2800" dirty="0" smtClean="0">
              <a:solidFill>
                <a:schemeClr val="tx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69950" y="661035"/>
            <a:ext cx="7404100" cy="4559300"/>
          </a:xfrm>
        </p:spPr>
        <p:txBody>
          <a:bodyPr>
            <a:noAutofit/>
          </a:bodyPr>
          <a:lstStyle/>
          <a:p>
            <a:r>
              <a:rPr lang="en-US" altLang="en-US" sz="3600" b="1" u="sng" dirty="0" smtClean="0">
                <a:solidFill>
                  <a:schemeClr val="tx1"/>
                </a:solidFill>
              </a:rPr>
              <a:t>Step 2: Initial Data  &amp; Documents Collection</a:t>
            </a:r>
            <a:endParaRPr lang="en-US" altLang="en-US" sz="3600" b="1" u="sng" dirty="0" smtClean="0">
              <a:solidFill>
                <a:schemeClr val="tx1"/>
              </a:solidFill>
            </a:endParaRPr>
          </a:p>
          <a:p>
            <a:endParaRPr lang="en-US" altLang="en-US" sz="2800" dirty="0" smtClean="0">
              <a:solidFill>
                <a:schemeClr val="tx1"/>
              </a:solidFill>
            </a:endParaRPr>
          </a:p>
          <a:p>
            <a:r>
              <a:rPr lang="en-US" altLang="en-US" sz="2800" dirty="0" smtClean="0">
                <a:solidFill>
                  <a:schemeClr val="tx1"/>
                </a:solidFill>
              </a:rPr>
              <a:t>After the application deadline, RAPID staff in Pakistan collected the initial data from online submissions. And then further information like personal data, family data and family finances, academic data and achievements, need for financial assistance, and references from institution, church and family were collected.</a:t>
            </a:r>
            <a:endParaRPr lang="en-US" altLang="en-US" sz="2800" dirty="0" smtClean="0">
              <a:solidFill>
                <a:schemeClr val="tx1"/>
              </a:solidFill>
            </a:endParaRPr>
          </a:p>
          <a:p>
            <a:r>
              <a:rPr lang="en-US" altLang="en-US" sz="2800" dirty="0" smtClean="0">
                <a:solidFill>
                  <a:schemeClr val="tx1"/>
                </a:solidFill>
                <a:sym typeface="+mn-ea"/>
              </a:rPr>
              <a:t>students were also required to submit  previous results, proof of admission and any other information left out in the form. (4-6 weeks)</a:t>
            </a:r>
            <a:r>
              <a:rPr lang="en-US" altLang="en-US" sz="2800" dirty="0" smtClean="0">
                <a:solidFill>
                  <a:schemeClr val="tx1"/>
                </a:solidFill>
              </a:rPr>
              <a:t> </a:t>
            </a:r>
            <a:endParaRPr lang="en-US" altLang="en-US" sz="2800" dirty="0" smtClean="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771525" y="1258570"/>
            <a:ext cx="7404735" cy="4749165"/>
          </a:xfrm>
        </p:spPr>
        <p:txBody>
          <a:bodyPr>
            <a:noAutofit/>
          </a:bodyPr>
          <a:lstStyle/>
          <a:p>
            <a:r>
              <a:rPr lang="en-US" altLang="en-US" sz="3600" b="1" u="sng">
                <a:solidFill>
                  <a:schemeClr val="tx1"/>
                </a:solidFill>
              </a:rPr>
              <a:t>Step 3: Data Arranging/Organization</a:t>
            </a:r>
            <a:endParaRPr lang="en-US" altLang="en-US" sz="3600" b="1" u="sng">
              <a:solidFill>
                <a:schemeClr val="tx1"/>
              </a:solidFill>
            </a:endParaRPr>
          </a:p>
          <a:p>
            <a:endParaRPr lang="en-US" altLang="en-US" sz="2800">
              <a:solidFill>
                <a:schemeClr val="tx1"/>
              </a:solidFill>
            </a:endParaRPr>
          </a:p>
          <a:p>
            <a:r>
              <a:rPr lang="en-US" altLang="en-US" sz="2800">
                <a:solidFill>
                  <a:schemeClr val="tx1"/>
                </a:solidFill>
              </a:rPr>
              <a:t>The collected data was organized into a tabular form, categorized by education level, fields of study and college and university. Missing information was gathered through emails, Whats-app messages, regular text, or phone calls as needed. This took another 4-5 weeks.</a:t>
            </a:r>
            <a:endParaRPr lang="en-US" altLang="en-US" sz="2800">
              <a:solidFill>
                <a:schemeClr val="tx1"/>
              </a:solidFill>
            </a:endParaRPr>
          </a:p>
        </p:txBody>
      </p:sp>
      <p:sp>
        <p:nvSpPr>
          <p:cNvPr id="3" name="Title 4"/>
          <p:cNvSpPr>
            <a:spLocks noGrp="1"/>
          </p:cNvSpPr>
          <p:nvPr/>
        </p:nvSpPr>
        <p:spPr>
          <a:xfrm>
            <a:off x="982980" y="460375"/>
            <a:ext cx="7406640" cy="80518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a:lstStyle>
          <a:p>
            <a:r>
              <a:rPr lang="en-US" b="1"/>
              <a:t>Procedure of Selection </a:t>
            </a:r>
            <a:endParaRPr lang="en-US"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5980" y="333375"/>
            <a:ext cx="7406640" cy="805180"/>
          </a:xfrm>
        </p:spPr>
        <p:txBody>
          <a:bodyPr/>
          <a:lstStyle/>
          <a:p>
            <a:r>
              <a:rPr lang="en-US" b="1"/>
              <a:t>Procedure of Selection </a:t>
            </a:r>
            <a:endParaRPr lang="en-US" b="1"/>
          </a:p>
        </p:txBody>
      </p:sp>
      <p:sp>
        <p:nvSpPr>
          <p:cNvPr id="7" name="Content Placeholder 5"/>
          <p:cNvSpPr>
            <a:spLocks noGrp="1"/>
          </p:cNvSpPr>
          <p:nvPr/>
        </p:nvSpPr>
        <p:spPr>
          <a:xfrm>
            <a:off x="789940" y="1552575"/>
            <a:ext cx="7404735" cy="4015105"/>
          </a:xfrm>
          <a:prstGeom prst="rect">
            <a:avLst/>
          </a:prstGeom>
        </p:spPr>
        <p:txBody>
          <a:bodyPr vert="horz" lIns="91440" tIns="45720" rIns="91440" bIns="45720" rtlCol="0">
            <a:no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34290" indent="0">
              <a:buNone/>
            </a:pPr>
            <a:r>
              <a:rPr lang="en-US" altLang="en-US" sz="3600" b="1" u="sng">
                <a:solidFill>
                  <a:schemeClr val="tx1"/>
                </a:solidFill>
              </a:rPr>
              <a:t>Step 4: Reviewing and Shortlisting</a:t>
            </a:r>
            <a:endParaRPr lang="en-US" altLang="en-US" sz="2800">
              <a:solidFill>
                <a:schemeClr val="tx1"/>
              </a:solidFill>
            </a:endParaRPr>
          </a:p>
          <a:p>
            <a:r>
              <a:rPr lang="en-US" altLang="en-US" sz="2800">
                <a:solidFill>
                  <a:schemeClr val="tx1"/>
                </a:solidFill>
              </a:rPr>
              <a:t>The organized data of all applicants was shared with the CEO-RAPID, and then a series of Zoom meetings were scheduled to discuss each applicant individually. During these meetings, students were shortlisted based on merit, considering factors such as GPA (minimum 3.5), field of study,  budget availability, city, gender, and family needs.</a:t>
            </a:r>
            <a:endParaRPr lang="en-US" altLang="en-US" sz="2800">
              <a:solidFill>
                <a:schemeClr val="tx1"/>
              </a:solidFill>
            </a:endParaRPr>
          </a:p>
          <a:p>
            <a:r>
              <a:rPr lang="en-US" altLang="en-US" sz="2800">
                <a:solidFill>
                  <a:schemeClr val="tx1"/>
                </a:solidFill>
              </a:rPr>
              <a:t>A final Data sheet of exel was prepared   </a:t>
            </a:r>
            <a:endParaRPr lang="en-US" altLang="en-US" sz="280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7250" y="609600"/>
            <a:ext cx="7406640" cy="805180"/>
          </a:xfrm>
        </p:spPr>
        <p:txBody>
          <a:bodyPr/>
          <a:lstStyle/>
          <a:p>
            <a:r>
              <a:rPr lang="en-US" b="1">
                <a:sym typeface="+mn-ea"/>
              </a:rPr>
              <a:t>Procedure of Selection</a:t>
            </a:r>
            <a:endParaRPr lang="en-US">
              <a:solidFill>
                <a:schemeClr val="tx1"/>
              </a:solidFill>
            </a:endParaRPr>
          </a:p>
        </p:txBody>
      </p:sp>
      <p:sp>
        <p:nvSpPr>
          <p:cNvPr id="6" name="Content Placeholder 5"/>
          <p:cNvSpPr>
            <a:spLocks noGrp="1"/>
          </p:cNvSpPr>
          <p:nvPr>
            <p:ph idx="1"/>
          </p:nvPr>
        </p:nvSpPr>
        <p:spPr>
          <a:xfrm>
            <a:off x="981075" y="1324610"/>
            <a:ext cx="7404735" cy="1620520"/>
          </a:xfrm>
        </p:spPr>
        <p:txBody>
          <a:bodyPr>
            <a:normAutofit/>
          </a:bodyPr>
          <a:lstStyle/>
          <a:p>
            <a:r>
              <a:rPr lang="en-US" altLang="en-US" sz="3600" b="1" u="sng">
                <a:solidFill>
                  <a:schemeClr val="tx1"/>
                </a:solidFill>
              </a:rPr>
              <a:t>Step 5: Refusal Notification</a:t>
            </a:r>
            <a:endParaRPr lang="en-US" altLang="en-US" sz="2800" b="1" u="sng">
              <a:solidFill>
                <a:schemeClr val="tx1"/>
              </a:solidFill>
            </a:endParaRPr>
          </a:p>
          <a:p>
            <a:r>
              <a:rPr lang="en-US" altLang="en-US" sz="2800">
                <a:solidFill>
                  <a:schemeClr val="tx1"/>
                </a:solidFill>
              </a:rPr>
              <a:t>Students not meeting the criteria of RAPID were sent a "RAPID Letter of Refusal." </a:t>
            </a:r>
            <a:endParaRPr lang="en-US" altLang="en-US" sz="2800">
              <a:solidFill>
                <a:schemeClr val="tx1"/>
              </a:solidFill>
            </a:endParaRPr>
          </a:p>
        </p:txBody>
      </p:sp>
      <p:sp>
        <p:nvSpPr>
          <p:cNvPr id="7" name="Content Placeholder 5"/>
          <p:cNvSpPr>
            <a:spLocks noGrp="1"/>
          </p:cNvSpPr>
          <p:nvPr/>
        </p:nvSpPr>
        <p:spPr>
          <a:xfrm>
            <a:off x="857250" y="3595370"/>
            <a:ext cx="7404735" cy="1913255"/>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34290" indent="0">
              <a:buNone/>
            </a:pPr>
            <a:r>
              <a:rPr lang="en-US" altLang="en-US" sz="3600" b="1" u="sng">
                <a:solidFill>
                  <a:schemeClr val="tx1"/>
                </a:solidFill>
              </a:rPr>
              <a:t>Step 6: Acceptance Notification</a:t>
            </a:r>
            <a:endParaRPr lang="en-US" altLang="en-US" sz="2800" b="1" u="sng">
              <a:solidFill>
                <a:schemeClr val="tx1"/>
              </a:solidFill>
            </a:endParaRPr>
          </a:p>
          <a:p>
            <a:pPr marL="34290" indent="0">
              <a:buNone/>
            </a:pPr>
            <a:r>
              <a:rPr lang="en-US" altLang="en-US" sz="2800">
                <a:solidFill>
                  <a:schemeClr val="tx1"/>
                </a:solidFill>
              </a:rPr>
              <a:t>Selected students were notified via email with a "RAPID Letter of Acceptance," specifying the approved fee amount. </a:t>
            </a:r>
            <a:endParaRPr lang="en-US" altLang="en-US" sz="280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00100" y="849630"/>
            <a:ext cx="7404735" cy="4093210"/>
          </a:xfrm>
        </p:spPr>
        <p:txBody>
          <a:bodyPr>
            <a:noAutofit/>
          </a:bodyPr>
          <a:lstStyle/>
          <a:p>
            <a:r>
              <a:rPr lang="en-US" altLang="en-US" sz="3600" b="1" u="sng">
                <a:solidFill>
                  <a:schemeClr val="tx1"/>
                </a:solidFill>
              </a:rPr>
              <a:t>Step 7: Fee Voucher Collection</a:t>
            </a:r>
            <a:endParaRPr lang="en-US" altLang="en-US" sz="3600" b="1" u="sng">
              <a:solidFill>
                <a:schemeClr val="tx1"/>
              </a:solidFill>
            </a:endParaRPr>
          </a:p>
          <a:p>
            <a:endParaRPr lang="en-US" altLang="en-US" sz="2800" b="1" u="sng">
              <a:solidFill>
                <a:schemeClr val="tx1"/>
              </a:solidFill>
            </a:endParaRPr>
          </a:p>
          <a:p>
            <a:r>
              <a:rPr lang="en-US" altLang="en-US" sz="2800">
                <a:solidFill>
                  <a:schemeClr val="tx1"/>
                </a:solidFill>
              </a:rPr>
              <a:t>Selected students were asked to send their fee vouchers, which were first verified by RAPID staff and then forwarded to the accounts personnel for direct payment to the concerned college/university bank account. </a:t>
            </a:r>
            <a:endParaRPr lang="en-US" altLang="en-US" sz="2800">
              <a:solidFill>
                <a:schemeClr val="tx1"/>
              </a:solidFill>
            </a:endParaRPr>
          </a:p>
          <a:p>
            <a:r>
              <a:rPr lang="en-US" altLang="en-US" sz="2800">
                <a:solidFill>
                  <a:schemeClr val="tx1"/>
                </a:solidFill>
              </a:rPr>
              <a:t>We donot deposit funds into students personal account nor we pay cash to them. </a:t>
            </a:r>
            <a:endParaRPr lang="en-US" altLang="en-US" sz="280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5"/>
          <p:cNvSpPr>
            <a:spLocks noGrp="1"/>
          </p:cNvSpPr>
          <p:nvPr/>
        </p:nvSpPr>
        <p:spPr>
          <a:xfrm>
            <a:off x="773430" y="1902460"/>
            <a:ext cx="7404735" cy="3681730"/>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a:lstStyle>
          <a:p>
            <a:pPr marL="34290" indent="0">
              <a:buNone/>
            </a:pPr>
            <a:r>
              <a:rPr lang="en-US" altLang="en-US" sz="3600" b="1" u="sng">
                <a:solidFill>
                  <a:schemeClr val="tx1"/>
                </a:solidFill>
              </a:rPr>
              <a:t>Step 8: Ongoing Communication</a:t>
            </a:r>
            <a:endParaRPr lang="en-US" altLang="en-US" sz="2800" b="1" u="sng">
              <a:solidFill>
                <a:schemeClr val="tx1"/>
              </a:solidFill>
            </a:endParaRPr>
          </a:p>
          <a:p>
            <a:pPr marL="34290" indent="0">
              <a:buNone/>
            </a:pPr>
            <a:r>
              <a:rPr lang="en-US" altLang="en-US" sz="2800">
                <a:solidFill>
                  <a:schemeClr val="tx1"/>
                </a:solidFill>
              </a:rPr>
              <a:t>Students were required to keep RAPID updated on any changes in their studies, institution, address, or contact information. They were also asked to send their result transcripts regularly.</a:t>
            </a:r>
            <a:endParaRPr lang="en-US" altLang="en-US" sz="2800">
              <a:solidFill>
                <a:schemeClr val="tx1"/>
              </a:solidFill>
            </a:endParaRPr>
          </a:p>
          <a:p>
            <a:pPr marL="34290" indent="0">
              <a:buNone/>
            </a:pPr>
            <a:r>
              <a:rPr lang="en-US" altLang="en-US" sz="2800">
                <a:solidFill>
                  <a:schemeClr val="tx1"/>
                </a:solidFill>
              </a:rPr>
              <a:t>Regular communication is maintained with students to address queries, collect result transcripts, and provide support.</a:t>
            </a:r>
            <a:endParaRPr lang="en-US" altLang="en-US" sz="2800">
              <a:solidFill>
                <a:schemeClr val="tx1"/>
              </a:solidFill>
            </a:endParaRPr>
          </a:p>
        </p:txBody>
      </p:sp>
      <p:sp>
        <p:nvSpPr>
          <p:cNvPr id="5" name="Title 4"/>
          <p:cNvSpPr>
            <a:spLocks noGrp="1"/>
          </p:cNvSpPr>
          <p:nvPr>
            <p:ph type="title"/>
          </p:nvPr>
        </p:nvSpPr>
        <p:spPr>
          <a:xfrm>
            <a:off x="857250" y="609600"/>
            <a:ext cx="7406640" cy="805180"/>
          </a:xfrm>
        </p:spPr>
        <p:txBody>
          <a:bodyPr/>
          <a:lstStyle/>
          <a:p>
            <a:r>
              <a:rPr lang="en-US" b="1">
                <a:sym typeface="+mn-ea"/>
              </a:rPr>
              <a:t>Procedure of Selection</a:t>
            </a:r>
            <a:endParaRPr lang="en-US">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050" y="723265"/>
            <a:ext cx="7406640" cy="567055"/>
          </a:xfrm>
        </p:spPr>
        <p:txBody>
          <a:bodyPr>
            <a:normAutofit fontScale="90000"/>
          </a:bodyPr>
          <a:lstStyle/>
          <a:p>
            <a:pPr algn="ctr"/>
            <a:r>
              <a:rPr lang="en-US" b="1">
                <a:solidFill>
                  <a:schemeClr val="tx1"/>
                </a:solidFill>
              </a:rPr>
              <a:t>Spring &amp; Fall 2025 Students </a:t>
            </a:r>
            <a:endParaRPr lang="en-US" b="1">
              <a:solidFill>
                <a:schemeClr val="tx1"/>
              </a:solidFill>
            </a:endParaRPr>
          </a:p>
        </p:txBody>
      </p:sp>
      <p:graphicFrame>
        <p:nvGraphicFramePr>
          <p:cNvPr id="4" name="Content Placeholder 3"/>
          <p:cNvGraphicFramePr>
            <a:graphicFrameLocks noGrp="1"/>
          </p:cNvGraphicFramePr>
          <p:nvPr>
            <p:ph idx="1"/>
            <p:custDataLst>
              <p:tags r:id="rId1"/>
            </p:custDataLst>
          </p:nvPr>
        </p:nvGraphicFramePr>
        <p:xfrm>
          <a:off x="838835" y="1835150"/>
          <a:ext cx="7548245" cy="3669665"/>
        </p:xfrm>
        <a:graphic>
          <a:graphicData uri="http://schemas.openxmlformats.org/drawingml/2006/table">
            <a:tbl>
              <a:tblPr firstRow="1" bandRow="1">
                <a:tableStyleId>{5C22544A-7EE6-4342-B048-85BDC9FD1C3A}</a:tableStyleId>
              </a:tblPr>
              <a:tblGrid>
                <a:gridCol w="2296795"/>
                <a:gridCol w="1477645"/>
                <a:gridCol w="1886585"/>
                <a:gridCol w="1887220"/>
              </a:tblGrid>
              <a:tr h="900430">
                <a:tc>
                  <a:txBody>
                    <a:bodyPr/>
                    <a:lstStyle/>
                    <a:p>
                      <a:pPr algn="ctr">
                        <a:buNone/>
                      </a:pPr>
                      <a:endParaRPr lang="en-US" sz="2400"/>
                    </a:p>
                  </a:txBody>
                  <a:tcPr/>
                </a:tc>
                <a:tc>
                  <a:txBody>
                    <a:bodyPr/>
                    <a:lstStyle/>
                    <a:p>
                      <a:pPr algn="ctr">
                        <a:buNone/>
                      </a:pPr>
                      <a:r>
                        <a:rPr lang="en-US" sz="2400"/>
                        <a:t>Spring 2025 Semester</a:t>
                      </a:r>
                      <a:endParaRPr lang="en-US" sz="2400"/>
                    </a:p>
                  </a:txBody>
                  <a:tcPr/>
                </a:tc>
                <a:tc>
                  <a:txBody>
                    <a:bodyPr/>
                    <a:lstStyle/>
                    <a:p>
                      <a:pPr algn="ctr">
                        <a:buNone/>
                      </a:pPr>
                      <a:r>
                        <a:rPr lang="en-US" sz="2400"/>
                        <a:t>Fall 2025 Semester</a:t>
                      </a:r>
                      <a:endParaRPr lang="en-US" sz="2400"/>
                    </a:p>
                  </a:txBody>
                  <a:tcPr/>
                </a:tc>
                <a:tc>
                  <a:txBody>
                    <a:bodyPr/>
                    <a:lstStyle/>
                    <a:p>
                      <a:pPr algn="ctr">
                        <a:buNone/>
                      </a:pPr>
                      <a:r>
                        <a:rPr lang="en-US" sz="2400"/>
                        <a:t>Total</a:t>
                      </a:r>
                      <a:endParaRPr lang="en-US" sz="2400"/>
                    </a:p>
                  </a:txBody>
                  <a:tcPr/>
                </a:tc>
              </a:tr>
              <a:tr h="484505">
                <a:tc>
                  <a:txBody>
                    <a:bodyPr/>
                    <a:lstStyle/>
                    <a:p>
                      <a:pPr algn="ctr">
                        <a:buNone/>
                      </a:pPr>
                      <a:r>
                        <a:rPr lang="en-US" sz="2400"/>
                        <a:t>Applicants </a:t>
                      </a:r>
                      <a:endParaRPr lang="en-US" sz="2400"/>
                    </a:p>
                  </a:txBody>
                  <a:tcPr/>
                </a:tc>
                <a:tc>
                  <a:txBody>
                    <a:bodyPr/>
                    <a:lstStyle/>
                    <a:p>
                      <a:pPr algn="ctr">
                        <a:buNone/>
                      </a:pPr>
                      <a:r>
                        <a:rPr lang="en-US" sz="2400"/>
                        <a:t>175</a:t>
                      </a:r>
                      <a:endParaRPr lang="en-US" sz="2400"/>
                    </a:p>
                  </a:txBody>
                  <a:tcPr/>
                </a:tc>
                <a:tc>
                  <a:txBody>
                    <a:bodyPr/>
                    <a:lstStyle/>
                    <a:p>
                      <a:pPr algn="ctr">
                        <a:buNone/>
                      </a:pPr>
                      <a:r>
                        <a:rPr lang="en-US" sz="2400"/>
                        <a:t>132</a:t>
                      </a:r>
                      <a:endParaRPr lang="en-US" sz="2400"/>
                    </a:p>
                  </a:txBody>
                  <a:tcPr/>
                </a:tc>
                <a:tc>
                  <a:txBody>
                    <a:bodyPr/>
                    <a:lstStyle/>
                    <a:p>
                      <a:pPr algn="ctr">
                        <a:buNone/>
                      </a:pPr>
                      <a:r>
                        <a:rPr lang="en-US" sz="2400"/>
                        <a:t>307</a:t>
                      </a:r>
                      <a:endParaRPr lang="en-US" sz="2400"/>
                    </a:p>
                  </a:txBody>
                  <a:tcPr/>
                </a:tc>
              </a:tr>
              <a:tr h="418465">
                <a:tc>
                  <a:txBody>
                    <a:bodyPr/>
                    <a:lstStyle/>
                    <a:p>
                      <a:pPr algn="ctr">
                        <a:buNone/>
                      </a:pPr>
                      <a:r>
                        <a:rPr lang="en-US" sz="2400"/>
                        <a:t>Provided Complete documents</a:t>
                      </a:r>
                      <a:endParaRPr lang="en-US" sz="2400"/>
                    </a:p>
                  </a:txBody>
                  <a:tcPr/>
                </a:tc>
                <a:tc>
                  <a:txBody>
                    <a:bodyPr/>
                    <a:lstStyle/>
                    <a:p>
                      <a:pPr algn="ctr">
                        <a:buNone/>
                      </a:pPr>
                      <a:r>
                        <a:rPr lang="en-US" sz="2400"/>
                        <a:t>140</a:t>
                      </a:r>
                      <a:endParaRPr lang="en-US" sz="2400"/>
                    </a:p>
                  </a:txBody>
                  <a:tcPr/>
                </a:tc>
                <a:tc>
                  <a:txBody>
                    <a:bodyPr/>
                    <a:lstStyle/>
                    <a:p>
                      <a:pPr algn="ctr">
                        <a:buNone/>
                      </a:pPr>
                      <a:r>
                        <a:rPr lang="en-US" sz="2400"/>
                        <a:t>118</a:t>
                      </a:r>
                      <a:endParaRPr lang="en-US" sz="2400"/>
                    </a:p>
                  </a:txBody>
                  <a:tcPr/>
                </a:tc>
                <a:tc>
                  <a:txBody>
                    <a:bodyPr/>
                    <a:lstStyle/>
                    <a:p>
                      <a:pPr algn="ctr">
                        <a:buNone/>
                      </a:pPr>
                      <a:r>
                        <a:rPr lang="en-US" sz="2400"/>
                        <a:t>258</a:t>
                      </a:r>
                      <a:endParaRPr lang="en-US" sz="2400"/>
                    </a:p>
                  </a:txBody>
                  <a:tcPr/>
                </a:tc>
              </a:tr>
              <a:tr h="418465">
                <a:tc>
                  <a:txBody>
                    <a:bodyPr/>
                    <a:lstStyle/>
                    <a:p>
                      <a:pPr algn="ctr">
                        <a:buNone/>
                      </a:pPr>
                      <a:r>
                        <a:rPr lang="en-US" sz="2800" b="1"/>
                        <a:t>Approved</a:t>
                      </a:r>
                      <a:endParaRPr lang="en-US" sz="2800" b="1"/>
                    </a:p>
                  </a:txBody>
                  <a:tcPr/>
                </a:tc>
                <a:tc>
                  <a:txBody>
                    <a:bodyPr/>
                    <a:lstStyle/>
                    <a:p>
                      <a:pPr algn="ctr">
                        <a:buNone/>
                      </a:pPr>
                      <a:r>
                        <a:rPr lang="en-US" sz="2800" b="1"/>
                        <a:t>71</a:t>
                      </a:r>
                      <a:endParaRPr lang="en-US" sz="2800" b="1"/>
                    </a:p>
                  </a:txBody>
                  <a:tcPr/>
                </a:tc>
                <a:tc>
                  <a:txBody>
                    <a:bodyPr/>
                    <a:lstStyle/>
                    <a:p>
                      <a:pPr algn="ctr">
                        <a:buNone/>
                      </a:pPr>
                      <a:r>
                        <a:rPr lang="en-US" sz="2800" b="1"/>
                        <a:t>76</a:t>
                      </a:r>
                      <a:endParaRPr lang="en-US" sz="2800" b="1"/>
                    </a:p>
                  </a:txBody>
                  <a:tcPr/>
                </a:tc>
                <a:tc>
                  <a:txBody>
                    <a:bodyPr/>
                    <a:lstStyle/>
                    <a:p>
                      <a:pPr algn="ctr">
                        <a:buNone/>
                      </a:pPr>
                      <a:r>
                        <a:rPr lang="en-US" sz="2800" b="1"/>
                        <a:t>147</a:t>
                      </a:r>
                      <a:endParaRPr lang="en-US" sz="2800" b="1"/>
                    </a:p>
                  </a:txBody>
                  <a:tcPr/>
                </a:tc>
              </a:tr>
              <a:tr h="419735">
                <a:tc>
                  <a:txBody>
                    <a:bodyPr/>
                    <a:lstStyle/>
                    <a:p>
                      <a:pPr algn="ctr">
                        <a:buNone/>
                      </a:pPr>
                      <a:r>
                        <a:rPr lang="en-US" sz="2400"/>
                        <a:t>Females</a:t>
                      </a:r>
                      <a:endParaRPr lang="en-US" sz="2400"/>
                    </a:p>
                  </a:txBody>
                  <a:tcPr/>
                </a:tc>
                <a:tc>
                  <a:txBody>
                    <a:bodyPr/>
                    <a:lstStyle/>
                    <a:p>
                      <a:pPr algn="ctr">
                        <a:buNone/>
                      </a:pPr>
                      <a:r>
                        <a:rPr lang="en-US" sz="2400"/>
                        <a:t>40</a:t>
                      </a:r>
                      <a:endParaRPr lang="en-US" sz="2400"/>
                    </a:p>
                  </a:txBody>
                  <a:tcPr/>
                </a:tc>
                <a:tc>
                  <a:txBody>
                    <a:bodyPr/>
                    <a:lstStyle/>
                    <a:p>
                      <a:pPr algn="ctr">
                        <a:buNone/>
                      </a:pPr>
                      <a:r>
                        <a:rPr lang="en-US" sz="2400"/>
                        <a:t>39</a:t>
                      </a:r>
                      <a:endParaRPr lang="en-US" sz="2400"/>
                    </a:p>
                  </a:txBody>
                  <a:tcPr/>
                </a:tc>
                <a:tc>
                  <a:txBody>
                    <a:bodyPr/>
                    <a:lstStyle/>
                    <a:p>
                      <a:pPr algn="ctr">
                        <a:buNone/>
                      </a:pPr>
                      <a:r>
                        <a:rPr lang="en-US" sz="2400"/>
                        <a:t>79</a:t>
                      </a:r>
                      <a:endParaRPr lang="en-US" sz="2400"/>
                    </a:p>
                  </a:txBody>
                  <a:tcPr/>
                </a:tc>
              </a:tr>
              <a:tr h="418465">
                <a:tc>
                  <a:txBody>
                    <a:bodyPr/>
                    <a:lstStyle/>
                    <a:p>
                      <a:pPr algn="ctr">
                        <a:buNone/>
                      </a:pPr>
                      <a:r>
                        <a:rPr lang="en-US" sz="2400"/>
                        <a:t>Males</a:t>
                      </a:r>
                      <a:endParaRPr lang="en-US" sz="2400"/>
                    </a:p>
                  </a:txBody>
                  <a:tcPr/>
                </a:tc>
                <a:tc>
                  <a:txBody>
                    <a:bodyPr/>
                    <a:lstStyle/>
                    <a:p>
                      <a:pPr algn="ctr">
                        <a:buNone/>
                      </a:pPr>
                      <a:r>
                        <a:rPr lang="en-US" sz="2400"/>
                        <a:t>31</a:t>
                      </a:r>
                      <a:endParaRPr lang="en-US" sz="2400"/>
                    </a:p>
                  </a:txBody>
                  <a:tcPr/>
                </a:tc>
                <a:tc>
                  <a:txBody>
                    <a:bodyPr/>
                    <a:lstStyle/>
                    <a:p>
                      <a:pPr algn="ctr">
                        <a:buNone/>
                      </a:pPr>
                      <a:r>
                        <a:rPr lang="en-US" sz="2400"/>
                        <a:t>37</a:t>
                      </a:r>
                      <a:endParaRPr lang="en-US" sz="2400"/>
                    </a:p>
                  </a:txBody>
                  <a:tcPr/>
                </a:tc>
                <a:tc>
                  <a:txBody>
                    <a:bodyPr/>
                    <a:lstStyle/>
                    <a:p>
                      <a:pPr algn="ctr">
                        <a:buNone/>
                      </a:pPr>
                      <a:r>
                        <a:rPr lang="en-US" sz="2400"/>
                        <a:t>68</a:t>
                      </a:r>
                      <a:endParaRPr lang="en-US" sz="240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custDataLst>
              <p:tags r:id="rId1"/>
            </p:custDataLst>
          </p:nvPr>
        </p:nvGraphicFramePr>
        <p:xfrm>
          <a:off x="289560" y="928370"/>
          <a:ext cx="8565515" cy="5810885"/>
        </p:xfrm>
        <a:graphic>
          <a:graphicData uri="http://schemas.openxmlformats.org/drawingml/2006/table">
            <a:tbl>
              <a:tblPr firstRow="1" bandRow="1">
                <a:tableStyleId>{5C22544A-7EE6-4342-B048-85BDC9FD1C3A}</a:tableStyleId>
              </a:tblPr>
              <a:tblGrid>
                <a:gridCol w="3427095"/>
                <a:gridCol w="1628775"/>
                <a:gridCol w="1538605"/>
                <a:gridCol w="1971040"/>
              </a:tblGrid>
              <a:tr h="568325">
                <a:tc>
                  <a:txBody>
                    <a:bodyPr/>
                    <a:lstStyle/>
                    <a:p>
                      <a:pPr algn="ctr">
                        <a:buNone/>
                      </a:pPr>
                      <a:endParaRPr lang="en-US" sz="2000"/>
                    </a:p>
                  </a:txBody>
                  <a:tcPr/>
                </a:tc>
                <a:tc>
                  <a:txBody>
                    <a:bodyPr/>
                    <a:lstStyle/>
                    <a:p>
                      <a:pPr algn="ctr">
                        <a:buNone/>
                      </a:pPr>
                      <a:r>
                        <a:rPr lang="en-US" sz="2000"/>
                        <a:t>Spring 2025</a:t>
                      </a:r>
                      <a:endParaRPr lang="en-US" sz="2000"/>
                    </a:p>
                  </a:txBody>
                  <a:tcPr/>
                </a:tc>
                <a:tc>
                  <a:txBody>
                    <a:bodyPr/>
                    <a:lstStyle/>
                    <a:p>
                      <a:pPr algn="ctr">
                        <a:buNone/>
                      </a:pPr>
                      <a:r>
                        <a:rPr lang="en-US" sz="2000"/>
                        <a:t>Fall   2025</a:t>
                      </a:r>
                      <a:endParaRPr lang="en-US" sz="2000"/>
                    </a:p>
                  </a:txBody>
                  <a:tcPr/>
                </a:tc>
                <a:tc>
                  <a:txBody>
                    <a:bodyPr/>
                    <a:lstStyle/>
                    <a:p>
                      <a:pPr algn="ctr">
                        <a:buNone/>
                      </a:pPr>
                      <a:r>
                        <a:rPr lang="en-US" sz="2000"/>
                        <a:t>Total</a:t>
                      </a:r>
                      <a:endParaRPr lang="en-US" sz="2000"/>
                    </a:p>
                  </a:txBody>
                  <a:tcPr/>
                </a:tc>
              </a:tr>
              <a:tr h="403225">
                <a:tc>
                  <a:txBody>
                    <a:bodyPr/>
                    <a:lstStyle/>
                    <a:p>
                      <a:pPr>
                        <a:buNone/>
                      </a:pPr>
                      <a:r>
                        <a:rPr lang="en-US" sz="2000"/>
                        <a:t>Under Grads</a:t>
                      </a:r>
                      <a:endParaRPr lang="en-US" sz="2000"/>
                    </a:p>
                  </a:txBody>
                  <a:tcPr/>
                </a:tc>
                <a:tc>
                  <a:txBody>
                    <a:bodyPr/>
                    <a:lstStyle/>
                    <a:p>
                      <a:pPr>
                        <a:buNone/>
                      </a:pPr>
                      <a:r>
                        <a:rPr lang="en-US" sz="2000"/>
                        <a:t>5</a:t>
                      </a:r>
                      <a:endParaRPr lang="en-US" sz="2000"/>
                    </a:p>
                  </a:txBody>
                  <a:tcPr/>
                </a:tc>
                <a:tc>
                  <a:txBody>
                    <a:bodyPr/>
                    <a:lstStyle/>
                    <a:p>
                      <a:pPr>
                        <a:buNone/>
                      </a:pPr>
                      <a:r>
                        <a:rPr lang="en-US" sz="2000"/>
                        <a:t>1</a:t>
                      </a:r>
                      <a:endParaRPr lang="en-US" sz="2000"/>
                    </a:p>
                  </a:txBody>
                  <a:tcPr/>
                </a:tc>
                <a:tc>
                  <a:txBody>
                    <a:bodyPr/>
                    <a:lstStyle/>
                    <a:p>
                      <a:pPr>
                        <a:buNone/>
                      </a:pPr>
                      <a:r>
                        <a:rPr lang="en-US" sz="2000"/>
                        <a:t>6</a:t>
                      </a:r>
                      <a:endParaRPr lang="en-US" sz="2000"/>
                    </a:p>
                  </a:txBody>
                  <a:tcPr/>
                </a:tc>
              </a:tr>
              <a:tr h="403225">
                <a:tc>
                  <a:txBody>
                    <a:bodyPr/>
                    <a:lstStyle/>
                    <a:p>
                      <a:pPr>
                        <a:buNone/>
                      </a:pPr>
                      <a:r>
                        <a:rPr lang="en-US" sz="2000"/>
                        <a:t>BS Business</a:t>
                      </a:r>
                      <a:endParaRPr lang="en-US" sz="2000"/>
                    </a:p>
                  </a:txBody>
                  <a:tcPr/>
                </a:tc>
                <a:tc>
                  <a:txBody>
                    <a:bodyPr/>
                    <a:lstStyle/>
                    <a:p>
                      <a:pPr>
                        <a:buNone/>
                      </a:pPr>
                      <a:r>
                        <a:rPr lang="en-US" sz="2000"/>
                        <a:t>7</a:t>
                      </a:r>
                      <a:endParaRPr lang="en-US" sz="2000"/>
                    </a:p>
                  </a:txBody>
                  <a:tcPr/>
                </a:tc>
                <a:tc>
                  <a:txBody>
                    <a:bodyPr/>
                    <a:lstStyle/>
                    <a:p>
                      <a:pPr>
                        <a:buNone/>
                      </a:pPr>
                      <a:r>
                        <a:rPr lang="en-US" sz="2000"/>
                        <a:t>8</a:t>
                      </a:r>
                      <a:endParaRPr lang="en-US" sz="2000"/>
                    </a:p>
                  </a:txBody>
                  <a:tcPr/>
                </a:tc>
                <a:tc>
                  <a:txBody>
                    <a:bodyPr/>
                    <a:lstStyle/>
                    <a:p>
                      <a:pPr>
                        <a:buNone/>
                      </a:pPr>
                      <a:r>
                        <a:rPr lang="en-US" sz="2000"/>
                        <a:t>15</a:t>
                      </a:r>
                      <a:endParaRPr lang="en-US" sz="2000"/>
                    </a:p>
                  </a:txBody>
                  <a:tcPr/>
                </a:tc>
              </a:tr>
              <a:tr h="403225">
                <a:tc>
                  <a:txBody>
                    <a:bodyPr/>
                    <a:lstStyle/>
                    <a:p>
                      <a:pPr>
                        <a:buNone/>
                      </a:pPr>
                      <a:r>
                        <a:rPr lang="en-US" sz="2000"/>
                        <a:t>BS Nursing</a:t>
                      </a:r>
                      <a:endParaRPr lang="en-US" sz="2000"/>
                    </a:p>
                  </a:txBody>
                  <a:tcPr/>
                </a:tc>
                <a:tc>
                  <a:txBody>
                    <a:bodyPr/>
                    <a:lstStyle/>
                    <a:p>
                      <a:pPr>
                        <a:buNone/>
                      </a:pPr>
                      <a:r>
                        <a:rPr lang="en-US" sz="2000"/>
                        <a:t>17</a:t>
                      </a:r>
                      <a:endParaRPr lang="en-US" sz="2000"/>
                    </a:p>
                  </a:txBody>
                  <a:tcPr/>
                </a:tc>
                <a:tc>
                  <a:txBody>
                    <a:bodyPr/>
                    <a:lstStyle/>
                    <a:p>
                      <a:pPr>
                        <a:buNone/>
                      </a:pPr>
                      <a:r>
                        <a:rPr lang="en-US" sz="2000"/>
                        <a:t>19</a:t>
                      </a:r>
                      <a:endParaRPr lang="en-US" sz="2000"/>
                    </a:p>
                  </a:txBody>
                  <a:tcPr/>
                </a:tc>
                <a:tc>
                  <a:txBody>
                    <a:bodyPr/>
                    <a:lstStyle/>
                    <a:p>
                      <a:pPr>
                        <a:buNone/>
                      </a:pPr>
                      <a:r>
                        <a:rPr lang="en-US" sz="2000"/>
                        <a:t>36</a:t>
                      </a:r>
                      <a:endParaRPr lang="en-US" sz="2000"/>
                    </a:p>
                  </a:txBody>
                  <a:tcPr/>
                </a:tc>
              </a:tr>
              <a:tr h="403225">
                <a:tc>
                  <a:txBody>
                    <a:bodyPr/>
                    <a:lstStyle/>
                    <a:p>
                      <a:pPr>
                        <a:buNone/>
                      </a:pPr>
                      <a:r>
                        <a:rPr lang="en-US" sz="2000"/>
                        <a:t>BS Computer Science</a:t>
                      </a:r>
                      <a:endParaRPr lang="en-US" sz="2000"/>
                    </a:p>
                  </a:txBody>
                  <a:tcPr/>
                </a:tc>
                <a:tc>
                  <a:txBody>
                    <a:bodyPr/>
                    <a:lstStyle/>
                    <a:p>
                      <a:pPr>
                        <a:buNone/>
                      </a:pPr>
                      <a:r>
                        <a:rPr lang="en-US" sz="2000"/>
                        <a:t>2</a:t>
                      </a:r>
                      <a:endParaRPr lang="en-US" sz="2000"/>
                    </a:p>
                  </a:txBody>
                  <a:tcPr/>
                </a:tc>
                <a:tc>
                  <a:txBody>
                    <a:bodyPr/>
                    <a:lstStyle/>
                    <a:p>
                      <a:pPr>
                        <a:buNone/>
                      </a:pPr>
                      <a:r>
                        <a:rPr lang="en-US" sz="2000"/>
                        <a:t>4</a:t>
                      </a:r>
                      <a:endParaRPr lang="en-US" sz="2000"/>
                    </a:p>
                  </a:txBody>
                  <a:tcPr/>
                </a:tc>
                <a:tc>
                  <a:txBody>
                    <a:bodyPr/>
                    <a:lstStyle/>
                    <a:p>
                      <a:pPr>
                        <a:buNone/>
                      </a:pPr>
                      <a:r>
                        <a:rPr lang="en-US" sz="2000"/>
                        <a:t>6</a:t>
                      </a:r>
                      <a:endParaRPr lang="en-US" sz="2000"/>
                    </a:p>
                  </a:txBody>
                  <a:tcPr/>
                </a:tc>
              </a:tr>
              <a:tr h="403225">
                <a:tc>
                  <a:txBody>
                    <a:bodyPr/>
                    <a:lstStyle/>
                    <a:p>
                      <a:pPr>
                        <a:buNone/>
                      </a:pPr>
                      <a:r>
                        <a:rPr lang="en-US" sz="2000"/>
                        <a:t>BS   other streams </a:t>
                      </a:r>
                      <a:endParaRPr lang="en-US" sz="2000"/>
                    </a:p>
                  </a:txBody>
                  <a:tcPr/>
                </a:tc>
                <a:tc>
                  <a:txBody>
                    <a:bodyPr/>
                    <a:lstStyle/>
                    <a:p>
                      <a:pPr>
                        <a:buNone/>
                      </a:pPr>
                      <a:r>
                        <a:rPr lang="en-US" sz="2000"/>
                        <a:t>19</a:t>
                      </a:r>
                      <a:endParaRPr lang="en-US" sz="2000"/>
                    </a:p>
                  </a:txBody>
                  <a:tcPr/>
                </a:tc>
                <a:tc>
                  <a:txBody>
                    <a:bodyPr/>
                    <a:lstStyle/>
                    <a:p>
                      <a:pPr>
                        <a:buNone/>
                      </a:pPr>
                      <a:r>
                        <a:rPr lang="en-US" sz="2000"/>
                        <a:t>20</a:t>
                      </a:r>
                      <a:endParaRPr lang="en-US" sz="2000"/>
                    </a:p>
                  </a:txBody>
                  <a:tcPr/>
                </a:tc>
                <a:tc>
                  <a:txBody>
                    <a:bodyPr/>
                    <a:lstStyle/>
                    <a:p>
                      <a:pPr>
                        <a:buNone/>
                      </a:pPr>
                      <a:r>
                        <a:rPr lang="en-US" sz="2000"/>
                        <a:t>39</a:t>
                      </a:r>
                      <a:endParaRPr lang="en-US" sz="2000"/>
                    </a:p>
                  </a:txBody>
                  <a:tcPr/>
                </a:tc>
              </a:tr>
              <a:tr h="403225">
                <a:tc>
                  <a:txBody>
                    <a:bodyPr/>
                    <a:lstStyle/>
                    <a:p>
                      <a:pPr>
                        <a:buNone/>
                      </a:pPr>
                      <a:r>
                        <a:rPr lang="en-US" sz="2000"/>
                        <a:t>M S/M. Phil</a:t>
                      </a:r>
                      <a:endParaRPr lang="en-US" sz="2000"/>
                    </a:p>
                  </a:txBody>
                  <a:tcPr/>
                </a:tc>
                <a:tc>
                  <a:txBody>
                    <a:bodyPr/>
                    <a:lstStyle/>
                    <a:p>
                      <a:pPr>
                        <a:buNone/>
                      </a:pPr>
                      <a:r>
                        <a:rPr lang="en-US" sz="2000"/>
                        <a:t>6</a:t>
                      </a:r>
                      <a:endParaRPr lang="en-US" sz="2000"/>
                    </a:p>
                  </a:txBody>
                  <a:tcPr/>
                </a:tc>
                <a:tc>
                  <a:txBody>
                    <a:bodyPr/>
                    <a:lstStyle/>
                    <a:p>
                      <a:pPr>
                        <a:buNone/>
                      </a:pPr>
                      <a:r>
                        <a:rPr lang="en-US" sz="2000"/>
                        <a:t>10</a:t>
                      </a:r>
                      <a:endParaRPr lang="en-US" sz="2000"/>
                    </a:p>
                  </a:txBody>
                  <a:tcPr/>
                </a:tc>
                <a:tc>
                  <a:txBody>
                    <a:bodyPr/>
                    <a:lstStyle/>
                    <a:p>
                      <a:pPr>
                        <a:buNone/>
                      </a:pPr>
                      <a:r>
                        <a:rPr lang="en-US" sz="2000"/>
                        <a:t>16</a:t>
                      </a:r>
                      <a:endParaRPr lang="en-US" sz="2000"/>
                    </a:p>
                  </a:txBody>
                  <a:tcPr/>
                </a:tc>
              </a:tr>
              <a:tr h="403225">
                <a:tc>
                  <a:txBody>
                    <a:bodyPr/>
                    <a:lstStyle/>
                    <a:p>
                      <a:pPr>
                        <a:buNone/>
                      </a:pPr>
                      <a:r>
                        <a:rPr lang="en-US" sz="2000"/>
                        <a:t>Post RN</a:t>
                      </a:r>
                      <a:endParaRPr lang="en-US" sz="2000"/>
                    </a:p>
                  </a:txBody>
                  <a:tcPr/>
                </a:tc>
                <a:tc>
                  <a:txBody>
                    <a:bodyPr/>
                    <a:lstStyle/>
                    <a:p>
                      <a:pPr>
                        <a:buNone/>
                      </a:pPr>
                      <a:r>
                        <a:rPr lang="en-US" sz="2000"/>
                        <a:t>0</a:t>
                      </a:r>
                      <a:endParaRPr lang="en-US" sz="2000"/>
                    </a:p>
                  </a:txBody>
                  <a:tcPr/>
                </a:tc>
                <a:tc>
                  <a:txBody>
                    <a:bodyPr/>
                    <a:lstStyle/>
                    <a:p>
                      <a:pPr>
                        <a:buNone/>
                      </a:pPr>
                      <a:r>
                        <a:rPr lang="en-US" sz="2000"/>
                        <a:t>1</a:t>
                      </a:r>
                      <a:endParaRPr lang="en-US" sz="2000"/>
                    </a:p>
                  </a:txBody>
                  <a:tcPr/>
                </a:tc>
                <a:tc>
                  <a:txBody>
                    <a:bodyPr/>
                    <a:lstStyle/>
                    <a:p>
                      <a:pPr>
                        <a:buNone/>
                      </a:pPr>
                      <a:r>
                        <a:rPr lang="en-US" sz="2000"/>
                        <a:t>1</a:t>
                      </a:r>
                      <a:endParaRPr lang="en-US" sz="2000"/>
                    </a:p>
                  </a:txBody>
                  <a:tcPr/>
                </a:tc>
              </a:tr>
              <a:tr h="403225">
                <a:tc>
                  <a:txBody>
                    <a:bodyPr/>
                    <a:lstStyle/>
                    <a:p>
                      <a:pPr>
                        <a:buNone/>
                      </a:pPr>
                      <a:r>
                        <a:rPr lang="en-US" sz="2000"/>
                        <a:t>BDS</a:t>
                      </a:r>
                      <a:endParaRPr lang="en-US" sz="2000"/>
                    </a:p>
                  </a:txBody>
                  <a:tcPr/>
                </a:tc>
                <a:tc>
                  <a:txBody>
                    <a:bodyPr/>
                    <a:lstStyle/>
                    <a:p>
                      <a:pPr>
                        <a:buNone/>
                      </a:pPr>
                      <a:r>
                        <a:rPr lang="en-US" sz="2000"/>
                        <a:t>1</a:t>
                      </a:r>
                      <a:endParaRPr lang="en-US" sz="2000"/>
                    </a:p>
                  </a:txBody>
                  <a:tcPr/>
                </a:tc>
                <a:tc>
                  <a:txBody>
                    <a:bodyPr/>
                    <a:lstStyle/>
                    <a:p>
                      <a:pPr>
                        <a:buNone/>
                      </a:pPr>
                      <a:r>
                        <a:rPr lang="en-US" sz="2000"/>
                        <a:t>1</a:t>
                      </a:r>
                      <a:endParaRPr lang="en-US" sz="2000"/>
                    </a:p>
                  </a:txBody>
                  <a:tcPr/>
                </a:tc>
                <a:tc>
                  <a:txBody>
                    <a:bodyPr/>
                    <a:lstStyle/>
                    <a:p>
                      <a:pPr>
                        <a:buNone/>
                      </a:pPr>
                      <a:r>
                        <a:rPr lang="en-US" sz="2000"/>
                        <a:t>2</a:t>
                      </a:r>
                      <a:endParaRPr lang="en-US" sz="2000"/>
                    </a:p>
                  </a:txBody>
                  <a:tcPr/>
                </a:tc>
              </a:tr>
              <a:tr h="403860">
                <a:tc>
                  <a:txBody>
                    <a:bodyPr/>
                    <a:lstStyle/>
                    <a:p>
                      <a:pPr>
                        <a:buNone/>
                      </a:pPr>
                      <a:r>
                        <a:rPr lang="en-US" sz="2000"/>
                        <a:t>DVM</a:t>
                      </a:r>
                      <a:endParaRPr lang="en-US" sz="2000"/>
                    </a:p>
                  </a:txBody>
                  <a:tcPr/>
                </a:tc>
                <a:tc>
                  <a:txBody>
                    <a:bodyPr/>
                    <a:lstStyle/>
                    <a:p>
                      <a:pPr>
                        <a:buNone/>
                      </a:pPr>
                      <a:r>
                        <a:rPr lang="en-US" sz="2000"/>
                        <a:t>3</a:t>
                      </a:r>
                      <a:endParaRPr lang="en-US" sz="2000"/>
                    </a:p>
                  </a:txBody>
                  <a:tcPr/>
                </a:tc>
                <a:tc>
                  <a:txBody>
                    <a:bodyPr/>
                    <a:lstStyle/>
                    <a:p>
                      <a:pPr>
                        <a:buNone/>
                      </a:pPr>
                      <a:r>
                        <a:rPr lang="en-US" sz="2000"/>
                        <a:t>3</a:t>
                      </a:r>
                      <a:endParaRPr lang="en-US" sz="2000"/>
                    </a:p>
                  </a:txBody>
                  <a:tcPr/>
                </a:tc>
                <a:tc>
                  <a:txBody>
                    <a:bodyPr/>
                    <a:lstStyle/>
                    <a:p>
                      <a:pPr>
                        <a:buNone/>
                      </a:pPr>
                      <a:r>
                        <a:rPr lang="en-US" sz="2000"/>
                        <a:t>6</a:t>
                      </a:r>
                      <a:endParaRPr lang="en-US" sz="2000"/>
                    </a:p>
                  </a:txBody>
                  <a:tcPr/>
                </a:tc>
              </a:tr>
              <a:tr h="403225">
                <a:tc>
                  <a:txBody>
                    <a:bodyPr/>
                    <a:lstStyle/>
                    <a:p>
                      <a:pPr>
                        <a:buNone/>
                      </a:pPr>
                      <a:r>
                        <a:rPr lang="en-US" sz="2000"/>
                        <a:t>DPT</a:t>
                      </a:r>
                      <a:endParaRPr lang="en-US" sz="2000"/>
                    </a:p>
                  </a:txBody>
                  <a:tcPr/>
                </a:tc>
                <a:tc>
                  <a:txBody>
                    <a:bodyPr/>
                    <a:lstStyle/>
                    <a:p>
                      <a:pPr>
                        <a:buNone/>
                      </a:pPr>
                      <a:r>
                        <a:rPr lang="en-US" sz="2000"/>
                        <a:t>4</a:t>
                      </a:r>
                      <a:endParaRPr lang="en-US" sz="2000"/>
                    </a:p>
                  </a:txBody>
                  <a:tcPr/>
                </a:tc>
                <a:tc>
                  <a:txBody>
                    <a:bodyPr/>
                    <a:lstStyle/>
                    <a:p>
                      <a:pPr>
                        <a:buNone/>
                      </a:pPr>
                      <a:r>
                        <a:rPr lang="en-US" sz="2000"/>
                        <a:t>2</a:t>
                      </a:r>
                      <a:endParaRPr lang="en-US" sz="2000"/>
                    </a:p>
                  </a:txBody>
                  <a:tcPr/>
                </a:tc>
                <a:tc>
                  <a:txBody>
                    <a:bodyPr/>
                    <a:lstStyle/>
                    <a:p>
                      <a:pPr>
                        <a:buNone/>
                      </a:pPr>
                      <a:r>
                        <a:rPr lang="en-US" sz="2000"/>
                        <a:t>6</a:t>
                      </a:r>
                      <a:endParaRPr lang="en-US" sz="2000"/>
                    </a:p>
                  </a:txBody>
                  <a:tcPr/>
                </a:tc>
              </a:tr>
              <a:tr h="403225">
                <a:tc>
                  <a:txBody>
                    <a:bodyPr/>
                    <a:lstStyle/>
                    <a:p>
                      <a:pPr>
                        <a:buNone/>
                      </a:pPr>
                      <a:r>
                        <a:rPr lang="en-US" sz="2000"/>
                        <a:t>Pharm D</a:t>
                      </a:r>
                      <a:endParaRPr lang="en-US" sz="2000"/>
                    </a:p>
                  </a:txBody>
                  <a:tcPr/>
                </a:tc>
                <a:tc>
                  <a:txBody>
                    <a:bodyPr/>
                    <a:lstStyle/>
                    <a:p>
                      <a:pPr>
                        <a:buNone/>
                      </a:pPr>
                      <a:r>
                        <a:rPr lang="en-US" sz="2000"/>
                        <a:t>5</a:t>
                      </a:r>
                      <a:endParaRPr lang="en-US" sz="2000"/>
                    </a:p>
                  </a:txBody>
                  <a:tcPr/>
                </a:tc>
                <a:tc>
                  <a:txBody>
                    <a:bodyPr/>
                    <a:lstStyle/>
                    <a:p>
                      <a:pPr>
                        <a:buNone/>
                      </a:pPr>
                      <a:r>
                        <a:rPr lang="en-US" sz="2000"/>
                        <a:t>5</a:t>
                      </a:r>
                      <a:endParaRPr lang="en-US" sz="2000"/>
                    </a:p>
                  </a:txBody>
                  <a:tcPr/>
                </a:tc>
                <a:tc>
                  <a:txBody>
                    <a:bodyPr/>
                    <a:lstStyle/>
                    <a:p>
                      <a:pPr>
                        <a:buNone/>
                      </a:pPr>
                      <a:r>
                        <a:rPr lang="en-US" sz="2000"/>
                        <a:t>10</a:t>
                      </a:r>
                      <a:endParaRPr lang="en-US" sz="2000"/>
                    </a:p>
                  </a:txBody>
                  <a:tcPr/>
                </a:tc>
              </a:tr>
              <a:tr h="403225">
                <a:tc>
                  <a:txBody>
                    <a:bodyPr/>
                    <a:lstStyle/>
                    <a:p>
                      <a:pPr>
                        <a:buNone/>
                      </a:pPr>
                      <a:r>
                        <a:rPr lang="en-US" sz="2000"/>
                        <a:t>ACCA</a:t>
                      </a:r>
                      <a:endParaRPr lang="en-US" sz="2000"/>
                    </a:p>
                  </a:txBody>
                  <a:tcPr/>
                </a:tc>
                <a:tc>
                  <a:txBody>
                    <a:bodyPr/>
                    <a:lstStyle/>
                    <a:p>
                      <a:pPr>
                        <a:buNone/>
                      </a:pPr>
                      <a:r>
                        <a:rPr lang="en-US" sz="2000"/>
                        <a:t>1</a:t>
                      </a:r>
                      <a:endParaRPr lang="en-US" sz="2000"/>
                    </a:p>
                  </a:txBody>
                  <a:tcPr/>
                </a:tc>
                <a:tc>
                  <a:txBody>
                    <a:bodyPr/>
                    <a:lstStyle/>
                    <a:p>
                      <a:pPr>
                        <a:buNone/>
                      </a:pPr>
                      <a:r>
                        <a:rPr lang="en-US" sz="2000"/>
                        <a:t>1</a:t>
                      </a:r>
                      <a:endParaRPr lang="en-US" sz="2000"/>
                    </a:p>
                  </a:txBody>
                  <a:tcPr/>
                </a:tc>
                <a:tc>
                  <a:txBody>
                    <a:bodyPr/>
                    <a:lstStyle/>
                    <a:p>
                      <a:pPr>
                        <a:buNone/>
                      </a:pPr>
                      <a:r>
                        <a:rPr lang="en-US" sz="2000"/>
                        <a:t>2</a:t>
                      </a:r>
                      <a:endParaRPr lang="en-US" sz="2000"/>
                    </a:p>
                  </a:txBody>
                  <a:tcPr/>
                </a:tc>
              </a:tr>
              <a:tr h="403225">
                <a:tc>
                  <a:txBody>
                    <a:bodyPr/>
                    <a:lstStyle/>
                    <a:p>
                      <a:pPr>
                        <a:buNone/>
                      </a:pPr>
                      <a:r>
                        <a:rPr lang="en-US" sz="2000"/>
                        <a:t>CA</a:t>
                      </a:r>
                      <a:endParaRPr lang="en-US" sz="2000"/>
                    </a:p>
                  </a:txBody>
                  <a:tcPr/>
                </a:tc>
                <a:tc>
                  <a:txBody>
                    <a:bodyPr/>
                    <a:lstStyle/>
                    <a:p>
                      <a:pPr>
                        <a:buNone/>
                      </a:pPr>
                      <a:r>
                        <a:rPr lang="en-US" sz="2000"/>
                        <a:t>1</a:t>
                      </a:r>
                      <a:endParaRPr lang="en-US" sz="2000"/>
                    </a:p>
                  </a:txBody>
                  <a:tcPr/>
                </a:tc>
                <a:tc>
                  <a:txBody>
                    <a:bodyPr/>
                    <a:lstStyle/>
                    <a:p>
                      <a:pPr>
                        <a:buNone/>
                      </a:pPr>
                      <a:r>
                        <a:rPr lang="en-US" sz="2000"/>
                        <a:t>1</a:t>
                      </a:r>
                      <a:endParaRPr lang="en-US" sz="2000"/>
                    </a:p>
                  </a:txBody>
                  <a:tcPr/>
                </a:tc>
                <a:tc>
                  <a:txBody>
                    <a:bodyPr/>
                    <a:lstStyle/>
                    <a:p>
                      <a:pPr>
                        <a:buNone/>
                      </a:pPr>
                      <a:r>
                        <a:rPr lang="en-US" sz="2000"/>
                        <a:t>2</a:t>
                      </a:r>
                      <a:endParaRPr lang="en-US" sz="2000"/>
                    </a:p>
                  </a:txBody>
                  <a:tcPr/>
                </a:tc>
              </a:tr>
            </a:tbl>
          </a:graphicData>
        </a:graphic>
      </p:graphicFrame>
      <p:sp>
        <p:nvSpPr>
          <p:cNvPr id="5" name="Title 1"/>
          <p:cNvSpPr>
            <a:spLocks noGrp="1"/>
          </p:cNvSpPr>
          <p:nvPr/>
        </p:nvSpPr>
        <p:spPr>
          <a:xfrm>
            <a:off x="87630" y="361950"/>
            <a:ext cx="8836660" cy="567055"/>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a:lstStyle>
          <a:p>
            <a:pPr algn="ctr"/>
            <a:r>
              <a:rPr lang="en-US" sz="3600" b="1">
                <a:solidFill>
                  <a:schemeClr val="tx1"/>
                </a:solidFill>
              </a:rPr>
              <a:t>Spring &amp; Fall 2025 Different fields of studies </a:t>
            </a:r>
            <a:endParaRPr lang="en-US" sz="3600" b="1">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405380" y="1350010"/>
            <a:ext cx="4693285" cy="3969385"/>
          </a:xfrm>
          <a:prstGeom prst="rect">
            <a:avLst/>
          </a:prstGeom>
          <a:noFill/>
        </p:spPr>
        <p:txBody>
          <a:bodyPr wrap="square" rtlCol="0">
            <a:spAutoFit/>
          </a:bodyPr>
          <a:lstStyle/>
          <a:p>
            <a:pPr algn="ctr"/>
            <a:r>
              <a:rPr lang="en-US" sz="3600" b="1"/>
              <a:t>In Spring 2025 semester 20 students completed their degrees. </a:t>
            </a:r>
            <a:endParaRPr lang="en-US" sz="3600" b="1"/>
          </a:p>
          <a:p>
            <a:pPr algn="ctr"/>
            <a:r>
              <a:rPr lang="en-US" sz="3600" b="1"/>
              <a:t>Personal statements of few students is shared</a:t>
            </a:r>
            <a:endParaRPr lang="en-US" sz="36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18490" y="1894840"/>
            <a:ext cx="7853045" cy="5631180"/>
          </a:xfrm>
          <a:prstGeom prst="rect">
            <a:avLst/>
          </a:prstGeom>
          <a:noFill/>
        </p:spPr>
        <p:txBody>
          <a:bodyPr wrap="square" rtlCol="0" anchor="t">
            <a:spAutoFit/>
          </a:bodyPr>
          <a:lstStyle/>
          <a:p>
            <a:r>
              <a:rPr lang="en-US" altLang="en-US" sz="2400"/>
              <a:t>From the moment I first peered through a microscope, I knew that science was my calling—especially as the COVID-19 pandemic underscored how vital groundbreaking innovation is. I'm Ephron Amir, a Biotechnology major at Forman Christian College, raised by two devoted teachers in a humble home.</a:t>
            </a:r>
            <a:endParaRPr lang="en-US" altLang="en-US" sz="2400"/>
          </a:p>
          <a:p>
            <a:endParaRPr lang="en-US" altLang="en-US" sz="2400"/>
          </a:p>
          <a:p>
            <a:r>
              <a:rPr lang="en-US" altLang="en-US" sz="2400"/>
              <a:t>My first semester was daunting, as paying full tuition without concessions placed a heavy burden on my hardworking family. Then, I discovered RAPID’s scholarship support, a generous intervention that lifted the financial weight off my father and reinvigorated my determination to pursue my dreams.</a:t>
            </a:r>
            <a:endParaRPr lang="en-US" altLang="en-US" sz="2400"/>
          </a:p>
          <a:p>
            <a:endParaRPr lang="en-US" altLang="en-US" sz="2400"/>
          </a:p>
          <a:p>
            <a:endParaRPr lang="en-US" sz="2400"/>
          </a:p>
        </p:txBody>
      </p:sp>
      <p:sp>
        <p:nvSpPr>
          <p:cNvPr id="4" name="Text Box 3"/>
          <p:cNvSpPr txBox="1"/>
          <p:nvPr/>
        </p:nvSpPr>
        <p:spPr>
          <a:xfrm>
            <a:off x="520065" y="408305"/>
            <a:ext cx="8050530" cy="1320800"/>
          </a:xfrm>
          <a:prstGeom prst="rect">
            <a:avLst/>
          </a:prstGeom>
          <a:noFill/>
        </p:spPr>
        <p:txBody>
          <a:bodyPr wrap="square" rtlCol="0">
            <a:noAutofit/>
          </a:bodyPr>
          <a:lstStyle/>
          <a:p>
            <a:pPr algn="ctr"/>
            <a:r>
              <a:rPr lang="en-US" altLang="en-US" sz="2400" b="1"/>
              <a:t>Ephron Amir BS (Hons) Biotechnology  </a:t>
            </a:r>
            <a:endParaRPr lang="en-US" altLang="en-US" sz="2400" b="1"/>
          </a:p>
          <a:p>
            <a:pPr algn="ctr"/>
            <a:r>
              <a:rPr lang="en-US" altLang="en-US" sz="2400" b="1"/>
              <a:t>Forman Christian College-A Chartered University Lahore </a:t>
            </a:r>
            <a:endParaRPr lang="en-US" altLang="en-US" sz="2400" b="1"/>
          </a:p>
          <a:p>
            <a:pPr algn="ctr"/>
            <a:r>
              <a:rPr lang="en-US" altLang="en-US" sz="2400" b="1" u="sng"/>
              <a:t>Fall 2022, Sp 2023, Fall 2023, Sp 2024, Fall 2024, Spring 2025</a:t>
            </a:r>
            <a:endParaRPr lang="en-US" altLang="en-US" sz="2400" b="1" u="sn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402330" y="2403475"/>
            <a:ext cx="5323205" cy="4154170"/>
          </a:xfrm>
          <a:prstGeom prst="rect">
            <a:avLst/>
          </a:prstGeom>
          <a:noFill/>
        </p:spPr>
        <p:txBody>
          <a:bodyPr wrap="square" rtlCol="0" anchor="t">
            <a:spAutoFit/>
          </a:bodyPr>
          <a:lstStyle/>
          <a:p>
            <a:endParaRPr lang="en-US" altLang="en-US" sz="2400"/>
          </a:p>
          <a:p>
            <a:r>
              <a:rPr lang="en-US" altLang="en-US" sz="2400"/>
              <a:t>I am deeply grateful to RAPID and its entire team—especially Miss Resha and Rev. Khushnud Azariah—for believing in my potential and empowering my academic journey. Your support not only advanced my academic journey but inspires me to pay it forward. </a:t>
            </a:r>
            <a:endParaRPr lang="en-US" altLang="en-US" sz="2400"/>
          </a:p>
          <a:p>
            <a:endParaRPr lang="en-US" altLang="en-US" sz="2400"/>
          </a:p>
          <a:p>
            <a:r>
              <a:rPr lang="en-US" altLang="en-US" sz="2400" b="1"/>
              <a:t>Thank you, RAPID, for empowering my dreams and shaping my future.</a:t>
            </a:r>
            <a:endParaRPr lang="en-US" sz="2400" b="1"/>
          </a:p>
        </p:txBody>
      </p:sp>
      <p:pic>
        <p:nvPicPr>
          <p:cNvPr id="3" name="Picture 2"/>
          <p:cNvPicPr>
            <a:picLocks noChangeAspect="1"/>
          </p:cNvPicPr>
          <p:nvPr/>
        </p:nvPicPr>
        <p:blipFill>
          <a:blip r:embed="rId1"/>
          <a:srcRect l="19761" t="12600" r="18403" b="27600"/>
          <a:stretch>
            <a:fillRect/>
          </a:stretch>
        </p:blipFill>
        <p:spPr>
          <a:xfrm>
            <a:off x="533400" y="636270"/>
            <a:ext cx="2620645" cy="2545715"/>
          </a:xfrm>
          <a:prstGeom prst="rect">
            <a:avLst/>
          </a:prstGeom>
        </p:spPr>
      </p:pic>
      <p:sp>
        <p:nvSpPr>
          <p:cNvPr id="4" name="Text Box 3"/>
          <p:cNvSpPr txBox="1"/>
          <p:nvPr/>
        </p:nvSpPr>
        <p:spPr>
          <a:xfrm>
            <a:off x="3868420" y="721995"/>
            <a:ext cx="4322445" cy="599440"/>
          </a:xfrm>
          <a:prstGeom prst="rect">
            <a:avLst/>
          </a:prstGeom>
          <a:noFill/>
        </p:spPr>
        <p:txBody>
          <a:bodyPr wrap="square" rtlCol="0">
            <a:noAutofit/>
          </a:bodyPr>
          <a:lstStyle/>
          <a:p>
            <a:r>
              <a:rPr lang="en-US" altLang="en-US" sz="2400" b="1"/>
              <a:t>Ephron Amir </a:t>
            </a:r>
            <a:endParaRPr lang="en-US" altLang="en-US" sz="2400" b="1"/>
          </a:p>
          <a:p>
            <a:r>
              <a:rPr lang="en-US" altLang="en-US" sz="2400" b="1"/>
              <a:t>BS (Hons) Biotechnology  </a:t>
            </a:r>
            <a:endParaRPr lang="en-US" altLang="en-US" sz="24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66140" y="2520950"/>
            <a:ext cx="7634605" cy="3449955"/>
          </a:xfrm>
          <a:prstGeom prst="rect">
            <a:avLst/>
          </a:prstGeom>
          <a:noFill/>
        </p:spPr>
        <p:txBody>
          <a:bodyPr wrap="square" rtlCol="0" anchor="t">
            <a:noAutofit/>
          </a:bodyPr>
          <a:lstStyle/>
          <a:p>
            <a:r>
              <a:rPr lang="en-US" altLang="en-US" sz="2400"/>
              <a:t>I’m Nouman Stephen I belongs to Peshawar Pakistan. But studying in Karachi. Completed my BSN generic from Amazing Grace School of Nursing Karachi (affiliated with. LUMHS. Liaqat University of Medical health sciences jamshoro Sindh Pakistan). </a:t>
            </a:r>
            <a:endParaRPr lang="en-US" altLang="en-US" sz="2400"/>
          </a:p>
          <a:p>
            <a:endParaRPr lang="en-US" altLang="en-US" sz="2400"/>
          </a:p>
          <a:p>
            <a:r>
              <a:rPr lang="en-US" altLang="en-US" sz="2400"/>
              <a:t>And I belongs to Christian family. We are 7( seven) siblings mom doing her job at khyber teaching hospital   And dad work private medical rap. Honestly monthly income are not enough for our educational expense. </a:t>
            </a:r>
            <a:endParaRPr lang="en-US" altLang="en-US" sz="2400"/>
          </a:p>
          <a:p>
            <a:endParaRPr lang="en-US" altLang="en-US" sz="2400"/>
          </a:p>
          <a:p>
            <a:endParaRPr lang="en-US" sz="2400"/>
          </a:p>
        </p:txBody>
      </p:sp>
      <p:pic>
        <p:nvPicPr>
          <p:cNvPr id="4" name="Picture 3"/>
          <p:cNvPicPr>
            <a:picLocks noChangeAspect="1"/>
          </p:cNvPicPr>
          <p:nvPr/>
        </p:nvPicPr>
        <p:blipFill>
          <a:blip r:embed="rId1"/>
          <a:stretch>
            <a:fillRect/>
          </a:stretch>
        </p:blipFill>
        <p:spPr>
          <a:xfrm>
            <a:off x="3314700" y="31823025"/>
            <a:ext cx="2088515" cy="3134360"/>
          </a:xfrm>
          <a:prstGeom prst="rect">
            <a:avLst/>
          </a:prstGeom>
        </p:spPr>
      </p:pic>
      <p:pic>
        <p:nvPicPr>
          <p:cNvPr id="5" name="Picture 4"/>
          <p:cNvPicPr>
            <a:picLocks noChangeAspect="1"/>
          </p:cNvPicPr>
          <p:nvPr/>
        </p:nvPicPr>
        <p:blipFill>
          <a:blip r:embed="rId1"/>
          <a:stretch>
            <a:fillRect/>
          </a:stretch>
        </p:blipFill>
        <p:spPr>
          <a:xfrm>
            <a:off x="3441700" y="31950025"/>
            <a:ext cx="2088515" cy="3134360"/>
          </a:xfrm>
          <a:prstGeom prst="rect">
            <a:avLst/>
          </a:prstGeom>
        </p:spPr>
      </p:pic>
      <p:sp>
        <p:nvSpPr>
          <p:cNvPr id="7" name="Text Box 6"/>
          <p:cNvSpPr txBox="1"/>
          <p:nvPr/>
        </p:nvSpPr>
        <p:spPr>
          <a:xfrm>
            <a:off x="866140" y="274955"/>
            <a:ext cx="7825740" cy="1568450"/>
          </a:xfrm>
          <a:prstGeom prst="rect">
            <a:avLst/>
          </a:prstGeom>
          <a:noFill/>
        </p:spPr>
        <p:txBody>
          <a:bodyPr wrap="square" rtlCol="0">
            <a:spAutoFit/>
          </a:bodyPr>
          <a:lstStyle/>
          <a:p>
            <a:pPr algn="ctr"/>
            <a:r>
              <a:rPr lang="en-US" sz="2400" b="1"/>
              <a:t>Nouman Stephen BS-Nursing Generic </a:t>
            </a:r>
            <a:endParaRPr lang="en-US" sz="2400" b="1"/>
          </a:p>
          <a:p>
            <a:pPr algn="ctr"/>
            <a:r>
              <a:rPr lang="en-US" altLang="en-US" sz="2400" b="1"/>
              <a:t>Amazing Grace school of Nursing Karachi, </a:t>
            </a:r>
            <a:endParaRPr lang="en-US" altLang="en-US" sz="2400" b="1"/>
          </a:p>
          <a:p>
            <a:pPr algn="ctr"/>
            <a:r>
              <a:rPr lang="en-US" altLang="en-US" sz="2400" b="1"/>
              <a:t>LUMHS</a:t>
            </a:r>
            <a:endParaRPr lang="en-US" altLang="en-US" sz="2400" b="1"/>
          </a:p>
          <a:p>
            <a:pPr algn="ctr"/>
            <a:r>
              <a:rPr lang="en-US" sz="2400" b="1" u="sng"/>
              <a:t>Spring 2024, Fall 2024 &amp; Spring 2025</a:t>
            </a:r>
            <a:endParaRPr lang="en-US" sz="2400" b="1" u="sng"/>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161665" y="428625"/>
            <a:ext cx="5654675" cy="4523105"/>
          </a:xfrm>
          <a:prstGeom prst="rect">
            <a:avLst/>
          </a:prstGeom>
          <a:noFill/>
        </p:spPr>
        <p:txBody>
          <a:bodyPr wrap="square" rtlCol="0" anchor="t">
            <a:spAutoFit/>
          </a:bodyPr>
          <a:lstStyle/>
          <a:p>
            <a:endParaRPr lang="en-US" altLang="en-US" sz="2400"/>
          </a:p>
          <a:p>
            <a:r>
              <a:rPr lang="en-US" altLang="en-US" sz="2400"/>
              <a:t>I’m thankful to RAPID who help me three times in the shape of scholarship. And My goal is to become Qualified Masters in nursing scholars and gain highest rank in my field. </a:t>
            </a:r>
            <a:endParaRPr lang="en-US" altLang="en-US" sz="2400"/>
          </a:p>
          <a:p>
            <a:r>
              <a:rPr lang="en-US" altLang="en-US" sz="2400"/>
              <a:t>Serve humanity to our community specially Christian’s.( as well as other communities around us).</a:t>
            </a:r>
            <a:endParaRPr lang="en-US" altLang="en-US" sz="2400"/>
          </a:p>
          <a:p>
            <a:r>
              <a:rPr lang="en-US" altLang="en-US" sz="2400"/>
              <a:t>If RAPID did not give me this scholarship it would be difficult for me to move constantly pursue my dreams and Goals.</a:t>
            </a:r>
            <a:endParaRPr lang="en-US" sz="2400"/>
          </a:p>
        </p:txBody>
      </p:sp>
      <p:pic>
        <p:nvPicPr>
          <p:cNvPr id="6" name="Picture 5" descr="Nauman Steohen"/>
          <p:cNvPicPr>
            <a:picLocks noChangeAspect="1"/>
          </p:cNvPicPr>
          <p:nvPr/>
        </p:nvPicPr>
        <p:blipFill>
          <a:blip r:embed="rId1"/>
          <a:srcRect l="15141" t="8176" r="7876" b="42176"/>
          <a:stretch>
            <a:fillRect/>
          </a:stretch>
        </p:blipFill>
        <p:spPr>
          <a:xfrm>
            <a:off x="314325" y="665480"/>
            <a:ext cx="2546350" cy="2463800"/>
          </a:xfrm>
          <a:prstGeom prst="rect">
            <a:avLst/>
          </a:prstGeom>
        </p:spPr>
      </p:pic>
      <p:sp>
        <p:nvSpPr>
          <p:cNvPr id="3" name="Text Box 2"/>
          <p:cNvSpPr txBox="1"/>
          <p:nvPr/>
        </p:nvSpPr>
        <p:spPr>
          <a:xfrm>
            <a:off x="672465" y="5135880"/>
            <a:ext cx="6528435" cy="1405255"/>
          </a:xfrm>
          <a:prstGeom prst="rect">
            <a:avLst/>
          </a:prstGeom>
          <a:noFill/>
        </p:spPr>
        <p:txBody>
          <a:bodyPr wrap="square" rtlCol="0">
            <a:noAutofit/>
          </a:bodyPr>
          <a:lstStyle/>
          <a:p>
            <a:r>
              <a:rPr lang="en-US" altLang="en-US" sz="2400" b="1">
                <a:sym typeface="+mn-ea"/>
              </a:rPr>
              <a:t>RAPID Thank you so much for this amazing opportunity. This scholarship is a true blessing and will allow me to focus on my goal and achieve my dreams.</a:t>
            </a:r>
            <a:endParaRPr lang="en-US" altLang="en-US" sz="2400" b="1">
              <a:sym typeface="+mn-ea"/>
            </a:endParaRPr>
          </a:p>
        </p:txBody>
      </p:sp>
      <p:sp>
        <p:nvSpPr>
          <p:cNvPr id="4" name="Text Box 3"/>
          <p:cNvSpPr txBox="1"/>
          <p:nvPr/>
        </p:nvSpPr>
        <p:spPr>
          <a:xfrm>
            <a:off x="192405" y="3531235"/>
            <a:ext cx="2790190" cy="829945"/>
          </a:xfrm>
          <a:prstGeom prst="rect">
            <a:avLst/>
          </a:prstGeom>
          <a:noFill/>
        </p:spPr>
        <p:txBody>
          <a:bodyPr wrap="square" rtlCol="0">
            <a:spAutoFit/>
          </a:bodyPr>
          <a:lstStyle/>
          <a:p>
            <a:r>
              <a:rPr lang="en-US" sz="2400" b="1">
                <a:sym typeface="+mn-ea"/>
              </a:rPr>
              <a:t>Nouman Stephen </a:t>
            </a:r>
            <a:endParaRPr lang="en-US" sz="2400" b="1">
              <a:sym typeface="+mn-ea"/>
            </a:endParaRPr>
          </a:p>
          <a:p>
            <a:r>
              <a:rPr lang="en-US" sz="2400" b="1">
                <a:sym typeface="+mn-ea"/>
              </a:rPr>
              <a:t>BS-Nursing Generic </a:t>
            </a:r>
            <a:endParaRPr lang="en-US" sz="2400" b="1">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19405" y="2771140"/>
            <a:ext cx="8559165" cy="3671570"/>
          </a:xfrm>
          <a:prstGeom prst="rect">
            <a:avLst/>
          </a:prstGeom>
        </p:spPr>
        <p:txBody>
          <a:bodyPr wrap="square">
            <a:spAutoFit/>
          </a:bodyPr>
          <a:lstStyle/>
          <a:p>
            <a:pPr defTabSz="266700">
              <a:spcBef>
                <a:spcPts val="500"/>
              </a:spcBef>
              <a:spcAft>
                <a:spcPts val="500"/>
              </a:spcAft>
            </a:pPr>
            <a:r>
              <a:rPr sz="2400">
                <a:latin typeface="Corbel" panose="020B0503020204020204" pitchFamily="34" charset="0"/>
                <a:ea typeface="ＭＳ 明朝"/>
                <a:cs typeface="Corbel" panose="020B0503020204020204" pitchFamily="34" charset="0"/>
              </a:rPr>
              <a:t>Alica Sakherab, I come from a family of three sisters and two incredibly loving and supportive parents. </a:t>
            </a:r>
            <a:endParaRPr sz="2400">
              <a:latin typeface="Corbel" panose="020B0503020204020204" pitchFamily="34" charset="0"/>
              <a:ea typeface="ＭＳ 明朝"/>
              <a:cs typeface="Corbel" panose="020B0503020204020204" pitchFamily="34" charset="0"/>
            </a:endParaRPr>
          </a:p>
          <a:p>
            <a:pPr defTabSz="266700">
              <a:spcBef>
                <a:spcPts val="500"/>
              </a:spcBef>
              <a:spcAft>
                <a:spcPts val="500"/>
              </a:spcAft>
            </a:pPr>
            <a:r>
              <a:rPr sz="2400">
                <a:latin typeface="Corbel" panose="020B0503020204020204" pitchFamily="34" charset="0"/>
                <a:ea typeface="ＭＳ 明朝"/>
                <a:cs typeface="Corbel" panose="020B0503020204020204" pitchFamily="34" charset="0"/>
              </a:rPr>
              <a:t>However, growing up in a household without a brother—especially in a deeply patriarchal society—I was constantly reminded of the void I could never fill for my parents or my sisters. </a:t>
            </a:r>
            <a:endParaRPr sz="2400">
              <a:latin typeface="Corbel" panose="020B0503020204020204" pitchFamily="34" charset="0"/>
              <a:ea typeface="ＭＳ 明朝"/>
              <a:cs typeface="Corbel" panose="020B0503020204020204" pitchFamily="34" charset="0"/>
            </a:endParaRPr>
          </a:p>
          <a:p>
            <a:pPr defTabSz="266700">
              <a:spcBef>
                <a:spcPts val="500"/>
              </a:spcBef>
              <a:spcAft>
                <a:spcPts val="500"/>
              </a:spcAft>
            </a:pPr>
            <a:r>
              <a:rPr sz="2400">
                <a:latin typeface="Corbel" panose="020B0503020204020204" pitchFamily="34" charset="0"/>
                <a:ea typeface="ＭＳ 明朝"/>
                <a:cs typeface="Corbel" panose="020B0503020204020204" pitchFamily="34" charset="0"/>
              </a:rPr>
              <a:t>University once felt like an unattainable dream, as I was always acutely aware of our financial constraints. Yet, I placed my faith in both God and me, took a leap of courage, and secured admission to my desired program: English Literature and Linguistics.</a:t>
            </a:r>
            <a:endParaRPr sz="2400">
              <a:latin typeface="Corbel" panose="020B0503020204020204" pitchFamily="34" charset="0"/>
              <a:ea typeface="ＭＳ 明朝"/>
              <a:cs typeface="Corbel" panose="020B0503020204020204" pitchFamily="34" charset="0"/>
            </a:endParaRPr>
          </a:p>
        </p:txBody>
      </p:sp>
      <p:sp>
        <p:nvSpPr>
          <p:cNvPr id="3" name="Text Box 2"/>
          <p:cNvSpPr txBox="1"/>
          <p:nvPr/>
        </p:nvSpPr>
        <p:spPr>
          <a:xfrm>
            <a:off x="2512060" y="331470"/>
            <a:ext cx="6263005" cy="2306955"/>
          </a:xfrm>
          <a:prstGeom prst="rect">
            <a:avLst/>
          </a:prstGeom>
          <a:noFill/>
        </p:spPr>
        <p:txBody>
          <a:bodyPr wrap="square" rtlCol="0">
            <a:spAutoFit/>
          </a:bodyPr>
          <a:lstStyle/>
          <a:p>
            <a:r>
              <a:rPr lang="en-US" sz="2400" b="1"/>
              <a:t>Alica Sakherab BS-(Hons) English Literature &amp; Linguistics</a:t>
            </a:r>
            <a:endParaRPr lang="en-US" sz="2400" b="1"/>
          </a:p>
          <a:p>
            <a:r>
              <a:rPr lang="en-US" altLang="en-US" sz="2400" b="1"/>
              <a:t>National University Of Modern Languages Rawalpindi </a:t>
            </a:r>
            <a:endParaRPr lang="en-US" altLang="en-US" sz="2400" b="1"/>
          </a:p>
          <a:p>
            <a:r>
              <a:rPr lang="en-US" altLang="en-US" sz="2400" b="1" u="sng"/>
              <a:t>Spring 2023, Fall 2023,Spring 2024, Fall 2024, Spring 2025</a:t>
            </a:r>
            <a:endParaRPr lang="en-US" altLang="en-US" sz="2400" b="1" u="sng"/>
          </a:p>
        </p:txBody>
      </p:sp>
      <p:pic>
        <p:nvPicPr>
          <p:cNvPr id="4" name="Picture 3" descr="Elica"/>
          <p:cNvPicPr>
            <a:picLocks noChangeAspect="1"/>
          </p:cNvPicPr>
          <p:nvPr/>
        </p:nvPicPr>
        <p:blipFill>
          <a:blip r:embed="rId1"/>
          <a:srcRect l="32617" t="56167" r="32062" b="14565"/>
          <a:stretch>
            <a:fillRect/>
          </a:stretch>
        </p:blipFill>
        <p:spPr>
          <a:xfrm>
            <a:off x="552450" y="683895"/>
            <a:ext cx="1816735" cy="200723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0345" y="1130300"/>
            <a:ext cx="8688070" cy="5646420"/>
          </a:xfrm>
          <a:prstGeom prst="rect">
            <a:avLst/>
          </a:prstGeom>
          <a:noFill/>
        </p:spPr>
        <p:txBody>
          <a:bodyPr wrap="square" rtlCol="0">
            <a:spAutoFit/>
          </a:bodyPr>
          <a:lstStyle/>
          <a:p>
            <a:r>
              <a:rPr lang="en-US" altLang="en-US" sz="2300"/>
              <a:t>Since my first semester, I have been working relentlessly to become financially independent. However, balancing tuition fees and daily expenses as a freshman was an immense challenge.</a:t>
            </a:r>
            <a:endParaRPr lang="en-US" altLang="en-US" sz="2300"/>
          </a:p>
          <a:p>
            <a:endParaRPr lang="en-US" altLang="en-US" sz="2300"/>
          </a:p>
          <a:p>
            <a:r>
              <a:rPr lang="en-US" altLang="en-US" sz="2300"/>
              <a:t>I will forever be grateful to the friend who introduced me to this scholarship, as it arrived at a time when I desperately needed support. </a:t>
            </a:r>
            <a:r>
              <a:rPr lang="en-US" altLang="en-US" sz="2300" b="1"/>
              <a:t>RAPID has been one of the most significant pillars of my academic journey, enabling me to persist despite hardships</a:t>
            </a:r>
            <a:r>
              <a:rPr lang="en-US" altLang="en-US" sz="2300"/>
              <a:t>.</a:t>
            </a:r>
            <a:endParaRPr lang="en-US" altLang="en-US" sz="2300"/>
          </a:p>
          <a:p>
            <a:endParaRPr lang="en-US" altLang="en-US" sz="2300"/>
          </a:p>
          <a:p>
            <a:r>
              <a:rPr lang="en-US" altLang="en-US" sz="2200"/>
              <a:t>Now, as I stand on the threshold of completing my final semester, I am overwhelmed with gratitude and a profound sense of purpose. The generosity I have received from </a:t>
            </a:r>
            <a:r>
              <a:rPr lang="en-US" altLang="en-US" sz="2200" b="1"/>
              <a:t>RAPID </a:t>
            </a:r>
            <a:r>
              <a:rPr lang="en-US" altLang="en-US" sz="2200"/>
              <a:t>has instilled in me an unwavering determination to give back to my community, just as I was uplifted in my time of need. Financial stability undeniably shapes our realities, and I aspire to reach a position where I can support others in accessing education, just as I was once supported.</a:t>
            </a:r>
            <a:endParaRPr lang="en-US" altLang="en-US" sz="2200"/>
          </a:p>
        </p:txBody>
      </p:sp>
      <p:sp>
        <p:nvSpPr>
          <p:cNvPr id="3" name="Text Box 2"/>
          <p:cNvSpPr txBox="1"/>
          <p:nvPr/>
        </p:nvSpPr>
        <p:spPr>
          <a:xfrm>
            <a:off x="1837055" y="246380"/>
            <a:ext cx="5710555" cy="829945"/>
          </a:xfrm>
          <a:prstGeom prst="rect">
            <a:avLst/>
          </a:prstGeom>
          <a:noFill/>
        </p:spPr>
        <p:txBody>
          <a:bodyPr wrap="square" rtlCol="0">
            <a:spAutoFit/>
          </a:bodyPr>
          <a:lstStyle/>
          <a:p>
            <a:pPr algn="ctr"/>
            <a:r>
              <a:rPr lang="en-US" sz="2400" b="1">
                <a:sym typeface="+mn-ea"/>
              </a:rPr>
              <a:t>Alica Sakherab </a:t>
            </a:r>
            <a:endParaRPr lang="en-US" sz="2400" b="1">
              <a:sym typeface="+mn-ea"/>
            </a:endParaRPr>
          </a:p>
          <a:p>
            <a:pPr algn="ctr"/>
            <a:r>
              <a:rPr lang="en-US" sz="2400" b="1">
                <a:sym typeface="+mn-ea"/>
              </a:rPr>
              <a:t>BS-(Hons) English Literature &amp; Linguistics</a:t>
            </a: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27405" y="1957388"/>
            <a:ext cx="6740525" cy="2825750"/>
          </a:xfrm>
        </p:spPr>
        <p:txBody>
          <a:bodyPr>
            <a:normAutofit fontScale="90000"/>
          </a:bodyPr>
          <a:lstStyle/>
          <a:p>
            <a:pPr algn="ctr"/>
            <a:r>
              <a:rPr lang="en-US" sz="5400" dirty="0" smtClean="0">
                <a:solidFill>
                  <a:schemeClr val="tx1"/>
                </a:solidFill>
              </a:rPr>
              <a:t> General Overview of Students   Data </a:t>
            </a:r>
            <a:br>
              <a:rPr lang="en-US" sz="5400" dirty="0" smtClean="0">
                <a:solidFill>
                  <a:schemeClr val="tx1"/>
                </a:solidFill>
              </a:rPr>
            </a:br>
            <a:r>
              <a:rPr lang="en-US" sz="5400" dirty="0" smtClean="0">
                <a:solidFill>
                  <a:schemeClr val="tx1"/>
                </a:solidFill>
              </a:rPr>
              <a:t>As in </a:t>
            </a:r>
            <a:br>
              <a:rPr lang="en-US" sz="5400" dirty="0" smtClean="0">
                <a:solidFill>
                  <a:schemeClr val="tx1"/>
                </a:solidFill>
              </a:rPr>
            </a:br>
            <a:r>
              <a:rPr lang="en-US" sz="5400" dirty="0" smtClean="0">
                <a:solidFill>
                  <a:schemeClr val="tx1"/>
                </a:solidFill>
              </a:rPr>
              <a:t>Previous Years</a:t>
            </a:r>
            <a:endParaRPr lang="en-US" sz="5400" dirty="0" smtClean="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7250" y="438150"/>
            <a:ext cx="7406640" cy="605155"/>
          </a:xfrm>
        </p:spPr>
        <p:txBody>
          <a:bodyPr>
            <a:normAutofit fontScale="90000"/>
          </a:bodyPr>
          <a:lstStyle/>
          <a:p>
            <a:pPr algn="ctr"/>
            <a:r>
              <a:rPr lang="en-US">
                <a:solidFill>
                  <a:schemeClr val="tx1"/>
                </a:solidFill>
              </a:rPr>
              <a:t>Comparison of Scholarships awarded in previous Years</a:t>
            </a:r>
            <a:endParaRPr lang="en-US">
              <a:solidFill>
                <a:schemeClr val="tx1"/>
              </a:solidFill>
            </a:endParaRPr>
          </a:p>
        </p:txBody>
      </p:sp>
      <p:sp>
        <p:nvSpPr>
          <p:cNvPr id="4" name="Content Placeholder 3"/>
          <p:cNvSpPr>
            <a:spLocks noGrp="1"/>
          </p:cNvSpPr>
          <p:nvPr>
            <p:ph idx="1"/>
          </p:nvPr>
        </p:nvSpPr>
        <p:spPr/>
        <p:txBody>
          <a:bodyPr/>
          <a:lstStyle/>
          <a:p>
            <a:endParaRPr lang="en-US"/>
          </a:p>
        </p:txBody>
      </p:sp>
      <p:graphicFrame>
        <p:nvGraphicFramePr>
          <p:cNvPr id="2" name="Chart 1"/>
          <p:cNvGraphicFramePr/>
          <p:nvPr/>
        </p:nvGraphicFramePr>
        <p:xfrm>
          <a:off x="340995" y="1290320"/>
          <a:ext cx="8544560" cy="533971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745" y="412115"/>
            <a:ext cx="8440420" cy="680720"/>
          </a:xfrm>
        </p:spPr>
        <p:txBody>
          <a:bodyPr>
            <a:normAutofit fontScale="90000"/>
          </a:bodyPr>
          <a:lstStyle/>
          <a:p>
            <a:pPr algn="ctr"/>
            <a:r>
              <a:rPr lang="en-US">
                <a:solidFill>
                  <a:schemeClr val="tx1"/>
                </a:solidFill>
              </a:rPr>
              <a:t>Graduated students in previous Years (71)</a:t>
            </a:r>
            <a:endParaRPr lang="en-US">
              <a:solidFill>
                <a:schemeClr val="tx1"/>
              </a:solidFill>
            </a:endParaRPr>
          </a:p>
        </p:txBody>
      </p:sp>
      <p:graphicFrame>
        <p:nvGraphicFramePr>
          <p:cNvPr id="4" name="Content Placeholder 3"/>
          <p:cNvGraphicFramePr>
            <a:graphicFrameLocks noGrp="1"/>
          </p:cNvGraphicFramePr>
          <p:nvPr>
            <p:ph idx="1"/>
          </p:nvPr>
        </p:nvGraphicFramePr>
        <p:xfrm>
          <a:off x="432435" y="1394460"/>
          <a:ext cx="8254365" cy="508444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565"/>
            <a:ext cx="8229600" cy="906780"/>
          </a:xfrm>
        </p:spPr>
        <p:txBody>
          <a:bodyPr>
            <a:normAutofit fontScale="90000"/>
          </a:bodyPr>
          <a:lstStyle/>
          <a:p>
            <a:pPr algn="ctr"/>
            <a:r>
              <a:rPr lang="en-US" b="1" dirty="0">
                <a:solidFill>
                  <a:schemeClr val="tx1"/>
                </a:solidFill>
              </a:rPr>
              <a:t>Students belong to Rural &amp; Urban Area of Pakistan</a:t>
            </a:r>
            <a:br>
              <a:rPr lang="en-US" b="1" dirty="0">
                <a:solidFill>
                  <a:schemeClr val="tx1"/>
                </a:solidFill>
              </a:rPr>
            </a:br>
            <a:endParaRPr lang="en-US" b="1" dirty="0">
              <a:solidFill>
                <a:schemeClr val="tx1"/>
              </a:solidFill>
            </a:endParaRPr>
          </a:p>
        </p:txBody>
      </p:sp>
      <p:sp>
        <p:nvSpPr>
          <p:cNvPr id="3" name="Content Placeholder 2"/>
          <p:cNvSpPr>
            <a:spLocks noGrp="1"/>
          </p:cNvSpPr>
          <p:nvPr>
            <p:ph idx="1"/>
          </p:nvPr>
        </p:nvSpPr>
        <p:spPr>
          <a:xfrm>
            <a:off x="457200" y="1203325"/>
            <a:ext cx="7698105" cy="4736465"/>
          </a:xfrm>
        </p:spPr>
        <p:txBody>
          <a:bodyPr>
            <a:noAutofit/>
          </a:bodyPr>
          <a:lstStyle/>
          <a:p>
            <a:pPr marL="0" indent="0" algn="ctr">
              <a:buNone/>
            </a:pPr>
            <a:r>
              <a:rPr lang="en-US" sz="2800" b="1" dirty="0">
                <a:solidFill>
                  <a:schemeClr val="tx1"/>
                </a:solidFill>
              </a:rPr>
              <a:t>We have been receiving applications and awarding scholarships to students from all over Pakistan</a:t>
            </a:r>
            <a:endParaRPr lang="en-US" sz="2800" b="1" dirty="0">
              <a:solidFill>
                <a:schemeClr val="tx1"/>
              </a:solidFill>
            </a:endParaRPr>
          </a:p>
          <a:p>
            <a:pPr marL="0" indent="0" algn="ctr">
              <a:buNone/>
            </a:pPr>
            <a:endParaRPr lang="en-US" sz="2800" b="1" dirty="0">
              <a:solidFill>
                <a:schemeClr val="tx1"/>
              </a:solidFill>
            </a:endParaRPr>
          </a:p>
          <a:p>
            <a:pPr marL="0" indent="0" algn="ctr">
              <a:buNone/>
            </a:pPr>
            <a:r>
              <a:rPr lang="en-US" sz="3200" dirty="0">
                <a:solidFill>
                  <a:schemeClr val="tx1"/>
                </a:solidFill>
              </a:rPr>
              <a:t>Bannu, Bhawalnagar, Clarkabad, Daska, Faisalabad, Gujranwala, Haroonabad, Islamabad, Karachi, Kasur, Kohat, Lahore, Layya, Multan, Narangmandi, Nizampura, Nowshera, Okara,Peshawar, Phool Nagar, Quetta, Rawalpindi, Sahiwal, Sialkot, Wah Cantt.</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custDataLst>
              <p:tags r:id="rId1"/>
            </p:custDataLst>
          </p:nvPr>
        </p:nvGraphicFramePr>
        <p:xfrm>
          <a:off x="165735" y="678180"/>
          <a:ext cx="8813800" cy="6047740"/>
        </p:xfrm>
        <a:graphic>
          <a:graphicData uri="http://schemas.openxmlformats.org/drawingml/2006/table">
            <a:tbl>
              <a:tblPr>
                <a:tableStyleId>{22838BEF-8BB2-4498-84A7-C5851F593DF1}</a:tableStyleId>
              </a:tblPr>
              <a:tblGrid>
                <a:gridCol w="613410"/>
                <a:gridCol w="1020445"/>
                <a:gridCol w="1626235"/>
                <a:gridCol w="1100455"/>
                <a:gridCol w="1270635"/>
                <a:gridCol w="804545"/>
                <a:gridCol w="797560"/>
                <a:gridCol w="742315"/>
                <a:gridCol w="838200"/>
              </a:tblGrid>
              <a:tr h="668020">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Name</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Home   Address</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Program</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Institution</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sz="1400" b="1">
                          <a:latin typeface="Arial" panose="020B0604020202020204" pitchFamily="34" charset="0"/>
                          <a:cs typeface="Arial" panose="020B0604020202020204" pitchFamily="34" charset="0"/>
                        </a:rPr>
                        <a:t>S</a:t>
                      </a:r>
                      <a:r>
                        <a:rPr lang="en-US" sz="1400" b="1">
                          <a:latin typeface="Arial" panose="020B0604020202020204" pitchFamily="34" charset="0"/>
                          <a:cs typeface="Arial" panose="020B0604020202020204" pitchFamily="34" charset="0"/>
                        </a:rPr>
                        <a:t>p</a:t>
                      </a:r>
                      <a:r>
                        <a:rPr sz="1400" b="1">
                          <a:latin typeface="Arial" panose="020B0604020202020204" pitchFamily="34" charset="0"/>
                          <a:cs typeface="Arial" panose="020B0604020202020204" pitchFamily="34" charset="0"/>
                        </a:rPr>
                        <a:t>ring 2024</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sz="1400" b="1">
                          <a:latin typeface="Arial" panose="020B0604020202020204" pitchFamily="34" charset="0"/>
                          <a:cs typeface="Arial" panose="020B0604020202020204" pitchFamily="34" charset="0"/>
                        </a:rPr>
                        <a:t>Fall </a:t>
                      </a:r>
                      <a:r>
                        <a:rPr lang="en-US" sz="1400" b="1">
                          <a:latin typeface="Arial" panose="020B0604020202020204" pitchFamily="34" charset="0"/>
                          <a:cs typeface="Arial" panose="020B0604020202020204" pitchFamily="34" charset="0"/>
                        </a:rPr>
                        <a:t>     </a:t>
                      </a:r>
                      <a:r>
                        <a:rPr sz="1400" b="1">
                          <a:latin typeface="Arial" panose="020B0604020202020204" pitchFamily="34" charset="0"/>
                          <a:cs typeface="Arial" panose="020B0604020202020204" pitchFamily="34" charset="0"/>
                        </a:rPr>
                        <a:t>2024</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Spring </a:t>
                      </a:r>
                      <a:r>
                        <a:rPr sz="1400" b="1">
                          <a:latin typeface="Arial" panose="020B0604020202020204" pitchFamily="34" charset="0"/>
                          <a:cs typeface="Arial" panose="020B0604020202020204" pitchFamily="34" charset="0"/>
                        </a:rPr>
                        <a:t>2025</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Fall      </a:t>
                      </a:r>
                      <a:r>
                        <a:rPr sz="1400" b="1">
                          <a:latin typeface="Arial" panose="020B0604020202020204" pitchFamily="34" charset="0"/>
                          <a:cs typeface="Arial" panose="020B0604020202020204" pitchFamily="34" charset="0"/>
                        </a:rPr>
                        <a:t>2025</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r>
              <a:tr h="1074420">
                <a:tc>
                  <a:txBody>
                    <a:bodyPr/>
                    <a:lstStyle/>
                    <a:p>
                      <a:pPr algn="ctr" fontAlgn="ctr"/>
                      <a:r>
                        <a:rPr lang="en-US" sz="1400" b="1">
                          <a:latin typeface="Arial" panose="020B0604020202020204" pitchFamily="34" charset="0"/>
                          <a:cs typeface="Arial" panose="020B0604020202020204" pitchFamily="34" charset="0"/>
                        </a:rPr>
                        <a:t>1</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Shiza Shahzad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House#72, St.#3, H-Block  Youhanabad Lahore</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BS-Microbiology and Molecular Genetics</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University of the Punjab Lahore</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6th Sem  4.0</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7th Sem</a:t>
                      </a:r>
                      <a:r>
                        <a:rPr lang="en-US" sz="1400" b="1">
                          <a:latin typeface="Arial" panose="020B0604020202020204" pitchFamily="34" charset="0"/>
                          <a:cs typeface="Arial" panose="020B0604020202020204" pitchFamily="34" charset="0"/>
                        </a:rPr>
                        <a:t> 4.0</a:t>
                      </a:r>
                      <a:r>
                        <a:rPr sz="1400" b="1">
                          <a:latin typeface="Arial" panose="020B0604020202020204" pitchFamily="34" charset="0"/>
                          <a:cs typeface="Arial" panose="020B0604020202020204" pitchFamily="34" charset="0"/>
                        </a:rPr>
                        <a:t> </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8th Sem</a:t>
                      </a:r>
                      <a:r>
                        <a:rPr lang="en-US" sz="1400" b="1">
                          <a:latin typeface="Arial" panose="020B0604020202020204" pitchFamily="34" charset="0"/>
                          <a:cs typeface="Arial" panose="020B0604020202020204" pitchFamily="34" charset="0"/>
                        </a:rPr>
                        <a:t>  4.0</a:t>
                      </a:r>
                      <a:endParaRPr lang="en-US"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r>
              <a:tr h="861060">
                <a:tc>
                  <a:txBody>
                    <a:bodyPr/>
                    <a:lstStyle/>
                    <a:p>
                      <a:pPr algn="ctr" fontAlgn="ctr"/>
                      <a:r>
                        <a:rPr lang="en-US" sz="1400" b="1">
                          <a:latin typeface="Arial" panose="020B0604020202020204" pitchFamily="34" charset="0"/>
                          <a:cs typeface="Arial" panose="020B0604020202020204" pitchFamily="34" charset="0"/>
                        </a:rPr>
                        <a:t>2</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Emaan Farrukh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H# 35-S- 4 Bahar Colony, Kot Lakhpat Lahore.</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BS Environmental Sciences</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Kinnaird College For Women University</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5th Sem 3.84</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6th Sem   3.65</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7th Sem</a:t>
                      </a:r>
                      <a:r>
                        <a:rPr lang="en-US" sz="1400" b="1">
                          <a:latin typeface="Arial" panose="020B0604020202020204" pitchFamily="34" charset="0"/>
                          <a:cs typeface="Arial" panose="020B0604020202020204" pitchFamily="34" charset="0"/>
                        </a:rPr>
                        <a:t> 3.93</a:t>
                      </a:r>
                      <a:r>
                        <a:rPr sz="1400" b="1">
                          <a:latin typeface="Arial" panose="020B0604020202020204" pitchFamily="34" charset="0"/>
                          <a:cs typeface="Arial" panose="020B0604020202020204" pitchFamily="34" charset="0"/>
                        </a:rPr>
                        <a:t> </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8th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r>
              <a:tr h="861060">
                <a:tc>
                  <a:txBody>
                    <a:bodyPr/>
                    <a:lstStyle/>
                    <a:p>
                      <a:pPr algn="ctr" fontAlgn="ctr"/>
                      <a:r>
                        <a:rPr lang="en-US" sz="1400" b="1">
                          <a:latin typeface="Arial" panose="020B0604020202020204" pitchFamily="34" charset="0"/>
                          <a:cs typeface="Arial" panose="020B0604020202020204" pitchFamily="34" charset="0"/>
                        </a:rPr>
                        <a:t>3</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Jessica Ilyas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House no 334 bara maidan, Jamhuria colony, Nazimabad no 3, Karachi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BS Nursing</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Saifee Burhani College of Nursing Karachi</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2nd Semester 4.0</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3rd Sem 3.92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4th Sem </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5th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r>
              <a:tr h="861060">
                <a:tc>
                  <a:txBody>
                    <a:bodyPr/>
                    <a:lstStyle/>
                    <a:p>
                      <a:pPr algn="ctr" fontAlgn="ctr"/>
                      <a:r>
                        <a:rPr lang="en-US" sz="1400" b="1">
                          <a:latin typeface="Arial" panose="020B0604020202020204" pitchFamily="34" charset="0"/>
                          <a:cs typeface="Arial" panose="020B0604020202020204" pitchFamily="34" charset="0"/>
                        </a:rPr>
                        <a:t>4</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Malaika Arif</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Bilal Town Street no 5, Faisalabad.</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MS Public Administration</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Government College University, Faisalabad.</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1st Semester 3.91</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2nd Sem 3.92</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3rd Sem </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4th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r>
              <a:tr h="647700">
                <a:tc>
                  <a:txBody>
                    <a:bodyPr/>
                    <a:lstStyle/>
                    <a:p>
                      <a:pPr algn="ctr" fontAlgn="ctr"/>
                      <a:r>
                        <a:rPr lang="en-US" sz="1400" b="1">
                          <a:latin typeface="Arial" panose="020B0604020202020204" pitchFamily="34" charset="0"/>
                          <a:cs typeface="Arial" panose="020B0604020202020204" pitchFamily="34" charset="0"/>
                        </a:rPr>
                        <a:t>5</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Arooj Amir</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village Data Zaidka Tehsil Pasrur District Sialkot</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M.Phil Chemistry</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Minhaj University Lahore</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1st Semester 3.68</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2nd Sem 3.75</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3rd Sem</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4th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r>
              <a:tr h="1074420">
                <a:tc>
                  <a:txBody>
                    <a:bodyPr/>
                    <a:lstStyle/>
                    <a:p>
                      <a:pPr algn="ctr" fontAlgn="ctr"/>
                      <a:r>
                        <a:rPr lang="en-US" sz="1400" b="1">
                          <a:latin typeface="Arial" panose="020B0604020202020204" pitchFamily="34" charset="0"/>
                          <a:cs typeface="Arial" panose="020B0604020202020204" pitchFamily="34" charset="0"/>
                        </a:rPr>
                        <a:t>6</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Visha Bhatti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H</a:t>
                      </a:r>
                      <a:r>
                        <a:rPr lang="en-US" sz="1400" b="1">
                          <a:latin typeface="Arial" panose="020B0604020202020204" pitchFamily="34" charset="0"/>
                          <a:cs typeface="Arial" panose="020B0604020202020204" pitchFamily="34" charset="0"/>
                        </a:rPr>
                        <a:t>#</a:t>
                      </a:r>
                      <a:r>
                        <a:rPr sz="1400" b="1">
                          <a:latin typeface="Arial" panose="020B0604020202020204" pitchFamily="34" charset="0"/>
                          <a:cs typeface="Arial" panose="020B0604020202020204" pitchFamily="34" charset="0"/>
                        </a:rPr>
                        <a:t> NE-317 E/A Church Gali Hafeez Road</a:t>
                      </a:r>
                      <a:r>
                        <a:rPr lang="en-US" sz="1400" b="1">
                          <a:latin typeface="Arial" panose="020B0604020202020204" pitchFamily="34" charset="0"/>
                          <a:cs typeface="Arial" panose="020B0604020202020204" pitchFamily="34" charset="0"/>
                        </a:rPr>
                        <a:t>, Hakem </a:t>
                      </a:r>
                      <a:r>
                        <a:rPr sz="1400" b="1">
                          <a:latin typeface="Arial" panose="020B0604020202020204" pitchFamily="34" charset="0"/>
                          <a:cs typeface="Arial" panose="020B0604020202020204" pitchFamily="34" charset="0"/>
                        </a:rPr>
                        <a:t>  Abad Rawalpindi</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Doctor of Pharmacy</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Abasyn University Islamabad Campus</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6th Semester 3.93</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7th Sem </a:t>
                      </a:r>
                      <a:r>
                        <a:rPr lang="en-US" sz="1400" b="1">
                          <a:latin typeface="Arial" panose="020B0604020202020204" pitchFamily="34" charset="0"/>
                          <a:cs typeface="Arial" panose="020B0604020202020204" pitchFamily="34" charset="0"/>
                        </a:rPr>
                        <a:t> 4.0</a:t>
                      </a:r>
                      <a:r>
                        <a:rPr sz="1400" b="1">
                          <a:latin typeface="Arial" panose="020B0604020202020204" pitchFamily="34" charset="0"/>
                          <a:cs typeface="Arial" panose="020B0604020202020204" pitchFamily="34" charset="0"/>
                        </a:rPr>
                        <a:t> </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8th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c>
                  <a:txBody>
                    <a:bodyPr/>
                    <a:lstStyle/>
                    <a:p>
                      <a:pPr algn="ctr" fontAlgn="ctr"/>
                      <a:r>
                        <a:rPr sz="1400" b="1">
                          <a:latin typeface="Arial" panose="020B0604020202020204" pitchFamily="34" charset="0"/>
                          <a:cs typeface="Arial" panose="020B0604020202020204" pitchFamily="34" charset="0"/>
                        </a:rPr>
                        <a:t>9th Sem</a:t>
                      </a:r>
                      <a:endParaRPr sz="1400" b="1">
                        <a:latin typeface="Arial" panose="020B0604020202020204" pitchFamily="34" charset="0"/>
                        <a:cs typeface="Arial" panose="020B0604020202020204" pitchFamily="34" charset="0"/>
                      </a:endParaRPr>
                    </a:p>
                  </a:txBody>
                  <a:tcPr marL="7937" marR="7937" marT="7937" marB="0" anchor="ctr">
                    <a:solidFill>
                      <a:srgbClr val="EFE7A4"/>
                    </a:solidFill>
                  </a:tcPr>
                </a:tc>
              </a:tr>
            </a:tbl>
          </a:graphicData>
        </a:graphic>
      </p:graphicFrame>
      <p:sp>
        <p:nvSpPr>
          <p:cNvPr id="3" name="Text Box 2"/>
          <p:cNvSpPr txBox="1"/>
          <p:nvPr/>
        </p:nvSpPr>
        <p:spPr>
          <a:xfrm>
            <a:off x="196215" y="191135"/>
            <a:ext cx="8737600" cy="487680"/>
          </a:xfrm>
          <a:prstGeom prst="rect">
            <a:avLst/>
          </a:prstGeom>
          <a:solidFill>
            <a:schemeClr val="accent2">
              <a:lumMod val="20000"/>
              <a:lumOff val="80000"/>
            </a:schemeClr>
          </a:solidFill>
        </p:spPr>
        <p:txBody>
          <a:bodyPr wrap="square" rtlCol="0">
            <a:noAutofit/>
            <a:scene3d>
              <a:camera prst="orthographicFront"/>
              <a:lightRig rig="threePt" dir="t"/>
            </a:scene3d>
          </a:bodyPr>
          <a:lstStyle/>
          <a:p>
            <a:pPr algn="ctr"/>
            <a:r>
              <a:rPr lang="en-US" sz="2400" b="1" dirty="0" smtClean="0">
                <a:ln w="22225">
                  <a:solidFill>
                    <a:schemeClr val="accent2"/>
                  </a:solidFill>
                  <a:prstDash val="solid"/>
                </a:ln>
                <a:solidFill>
                  <a:schemeClr val="accent2">
                    <a:lumMod val="40000"/>
                    <a:lumOff val="60000"/>
                  </a:schemeClr>
                </a:solidFill>
                <a:effectLst/>
                <a:sym typeface="+mn-ea"/>
              </a:rPr>
              <a:t>Ivy Azariah Scholarship awarded in 2025</a:t>
            </a:r>
            <a:endPar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endParaRPr>
          </a:p>
          <a:p>
            <a:r>
              <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rPr>
              <a:t>  </a:t>
            </a:r>
            <a:endPar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custDataLst>
              <p:tags r:id="rId1"/>
            </p:custDataLst>
          </p:nvPr>
        </p:nvGraphicFramePr>
        <p:xfrm>
          <a:off x="165735" y="678180"/>
          <a:ext cx="8813800" cy="4846320"/>
        </p:xfrm>
        <a:graphic>
          <a:graphicData uri="http://schemas.openxmlformats.org/drawingml/2006/table">
            <a:tbl>
              <a:tblPr>
                <a:tableStyleId>{22838BEF-8BB2-4498-84A7-C5851F593DF1}</a:tableStyleId>
              </a:tblPr>
              <a:tblGrid>
                <a:gridCol w="613410"/>
                <a:gridCol w="1020445"/>
                <a:gridCol w="1626235"/>
                <a:gridCol w="1100455"/>
                <a:gridCol w="1270635"/>
                <a:gridCol w="804545"/>
                <a:gridCol w="797560"/>
                <a:gridCol w="742315"/>
                <a:gridCol w="838200"/>
              </a:tblGrid>
              <a:tr h="852805">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Name</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Home   Address</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Program</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Institution</a:t>
                      </a:r>
                      <a:endParaRPr lang="en-US"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sz="1400" b="1">
                          <a:latin typeface="Arial" panose="020B0604020202020204" pitchFamily="34" charset="0"/>
                          <a:cs typeface="Arial" panose="020B0604020202020204" pitchFamily="34" charset="0"/>
                        </a:rPr>
                        <a:t>S</a:t>
                      </a:r>
                      <a:r>
                        <a:rPr lang="en-US" sz="1400" b="1">
                          <a:latin typeface="Arial" panose="020B0604020202020204" pitchFamily="34" charset="0"/>
                          <a:cs typeface="Arial" panose="020B0604020202020204" pitchFamily="34" charset="0"/>
                        </a:rPr>
                        <a:t>p</a:t>
                      </a:r>
                      <a:r>
                        <a:rPr sz="1400" b="1">
                          <a:latin typeface="Arial" panose="020B0604020202020204" pitchFamily="34" charset="0"/>
                          <a:cs typeface="Arial" panose="020B0604020202020204" pitchFamily="34" charset="0"/>
                        </a:rPr>
                        <a:t>ring 2024</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sz="1400" b="1">
                          <a:latin typeface="Arial" panose="020B0604020202020204" pitchFamily="34" charset="0"/>
                          <a:cs typeface="Arial" panose="020B0604020202020204" pitchFamily="34" charset="0"/>
                        </a:rPr>
                        <a:t>Fall </a:t>
                      </a:r>
                      <a:r>
                        <a:rPr lang="en-US" sz="1400" b="1">
                          <a:latin typeface="Arial" panose="020B0604020202020204" pitchFamily="34" charset="0"/>
                          <a:cs typeface="Arial" panose="020B0604020202020204" pitchFamily="34" charset="0"/>
                        </a:rPr>
                        <a:t>     </a:t>
                      </a:r>
                      <a:r>
                        <a:rPr sz="1400" b="1">
                          <a:latin typeface="Arial" panose="020B0604020202020204" pitchFamily="34" charset="0"/>
                          <a:cs typeface="Arial" panose="020B0604020202020204" pitchFamily="34" charset="0"/>
                        </a:rPr>
                        <a:t>2024</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Spring </a:t>
                      </a:r>
                      <a:r>
                        <a:rPr sz="1400" b="1">
                          <a:latin typeface="Arial" panose="020B0604020202020204" pitchFamily="34" charset="0"/>
                          <a:cs typeface="Arial" panose="020B0604020202020204" pitchFamily="34" charset="0"/>
                        </a:rPr>
                        <a:t>2025</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c>
                  <a:txBody>
                    <a:bodyPr/>
                    <a:lstStyle/>
                    <a:p>
                      <a:pPr algn="ctr" fontAlgn="ctr"/>
                      <a:r>
                        <a:rPr lang="en-US" sz="1400" b="1">
                          <a:latin typeface="Arial" panose="020B0604020202020204" pitchFamily="34" charset="0"/>
                          <a:cs typeface="Arial" panose="020B0604020202020204" pitchFamily="34" charset="0"/>
                        </a:rPr>
                        <a:t>Fall      </a:t>
                      </a:r>
                      <a:r>
                        <a:rPr sz="1400" b="1">
                          <a:latin typeface="Arial" panose="020B0604020202020204" pitchFamily="34" charset="0"/>
                          <a:cs typeface="Arial" panose="020B0604020202020204" pitchFamily="34" charset="0"/>
                        </a:rPr>
                        <a:t>2025</a:t>
                      </a:r>
                      <a:endParaRPr sz="1400" b="1">
                        <a:latin typeface="Arial" panose="020B0604020202020204" pitchFamily="34" charset="0"/>
                        <a:cs typeface="Arial" panose="020B0604020202020204" pitchFamily="34" charset="0"/>
                      </a:endParaRPr>
                    </a:p>
                  </a:txBody>
                  <a:tcPr marL="7937" marR="7937" marT="7937" marB="0" anchor="ctr">
                    <a:solidFill>
                      <a:srgbClr val="FCFBEF"/>
                    </a:solidFill>
                  </a:tcPr>
                </a:tc>
              </a:tr>
              <a:tr h="803275">
                <a:tc>
                  <a:txBody>
                    <a:bodyPr/>
                    <a:lstStyle/>
                    <a:p>
                      <a:pPr algn="ctr" fontAlgn="ctr"/>
                      <a:r>
                        <a:rPr lang="en-US" sz="1400" b="1">
                          <a:latin typeface="Arial" panose="020B0604020202020204" pitchFamily="34" charset="0"/>
                          <a:cs typeface="Arial" panose="020B0604020202020204" pitchFamily="34" charset="0"/>
                        </a:rPr>
                        <a:t>7</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Eman Jackson</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Phandu road Charagabad Christian colony Peshawar</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Doctor of Pharmacy</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Qurtuba University of Science and IT Peshawar</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2nd  Semester 3.95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3rd Sem 3.86</a:t>
                      </a:r>
                      <a:endParaRPr sz="1400" b="1">
                        <a:latin typeface="Arial" panose="020B0604020202020204" pitchFamily="34" charset="0"/>
                        <a:cs typeface="Arial" panose="020B0604020202020204" pitchFamily="34" charset="0"/>
                      </a:endParaRPr>
                    </a:p>
                  </a:txBody>
                  <a:tcPr marL="7937" marR="7937" marT="7937" marB="0" anchor="ctr">
                    <a:solidFill>
                      <a:srgbClr val="E9E086"/>
                    </a:solidFill>
                  </a:tcPr>
                </a:tc>
                <a:tc>
                  <a:txBody>
                    <a:bodyPr/>
                    <a:lstStyle/>
                    <a:p>
                      <a:pPr algn="ctr" fontAlgn="ctr"/>
                      <a:r>
                        <a:rPr sz="1400" b="1">
                          <a:latin typeface="Arial" panose="020B0604020202020204" pitchFamily="34" charset="0"/>
                          <a:cs typeface="Arial" panose="020B0604020202020204" pitchFamily="34" charset="0"/>
                        </a:rPr>
                        <a:t>4th Sem </a:t>
                      </a:r>
                      <a:endParaRPr sz="1400" b="1">
                        <a:latin typeface="Arial" panose="020B0604020202020204" pitchFamily="34" charset="0"/>
                        <a:cs typeface="Arial" panose="020B0604020202020204" pitchFamily="34" charset="0"/>
                      </a:endParaRPr>
                    </a:p>
                  </a:txBody>
                  <a:tcPr marL="7937" marR="7937" marT="7937" marB="0" anchor="ctr">
                    <a:solidFill>
                      <a:srgbClr val="E9E086"/>
                    </a:solidFill>
                  </a:tcPr>
                </a:tc>
                <a:tc>
                  <a:txBody>
                    <a:bodyPr/>
                    <a:lstStyle/>
                    <a:p>
                      <a:pPr algn="ctr" fontAlgn="ctr"/>
                      <a:r>
                        <a:rPr sz="1400" b="1">
                          <a:latin typeface="Arial" panose="020B0604020202020204" pitchFamily="34" charset="0"/>
                          <a:cs typeface="Arial" panose="020B0604020202020204" pitchFamily="34" charset="0"/>
                        </a:rPr>
                        <a:t>5th Sem</a:t>
                      </a:r>
                      <a:endParaRPr sz="1400" b="1">
                        <a:latin typeface="Arial" panose="020B0604020202020204" pitchFamily="34" charset="0"/>
                        <a:cs typeface="Arial" panose="020B0604020202020204" pitchFamily="34" charset="0"/>
                      </a:endParaRPr>
                    </a:p>
                  </a:txBody>
                  <a:tcPr marL="7937" marR="7937" marT="7937" marB="0" anchor="ctr">
                    <a:solidFill>
                      <a:srgbClr val="E9E086"/>
                    </a:solidFill>
                  </a:tcPr>
                </a:tc>
              </a:tr>
              <a:tr h="689610">
                <a:tc>
                  <a:txBody>
                    <a:bodyPr/>
                    <a:lstStyle/>
                    <a:p>
                      <a:pPr algn="ctr" fontAlgn="ctr"/>
                      <a:r>
                        <a:rPr lang="en-US" sz="1400" b="1">
                          <a:latin typeface="Arial" panose="020B0604020202020204" pitchFamily="34" charset="0"/>
                          <a:cs typeface="Arial" panose="020B0604020202020204" pitchFamily="34" charset="0"/>
                        </a:rPr>
                        <a:t>8</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Leaticia Shahid</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12/5 B Nazimabad No 3 block B Karachi</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Doctor of physical therapy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Ziauddin University Karachi </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7th Semester 3.66</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8th Semester 3.83</a:t>
                      </a: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a:latin typeface="Arial" panose="020B0604020202020204" pitchFamily="34" charset="0"/>
                          <a:cs typeface="Arial" panose="020B0604020202020204" pitchFamily="34" charset="0"/>
                        </a:rPr>
                        <a:t>9th Sem 3.9 </a:t>
                      </a:r>
                      <a:endParaRPr sz="1400" b="1">
                        <a:latin typeface="Arial" panose="020B0604020202020204" pitchFamily="34" charset="0"/>
                        <a:cs typeface="Arial" panose="020B0604020202020204" pitchFamily="34" charset="0"/>
                      </a:endParaRPr>
                    </a:p>
                  </a:txBody>
                  <a:tcPr marL="7937" marR="7937" marT="7937" marB="0" anchor="ctr">
                    <a:solidFill>
                      <a:srgbClr val="E9E086"/>
                    </a:solidFill>
                  </a:tcPr>
                </a:tc>
                <a:tc>
                  <a:txBody>
                    <a:bodyPr/>
                    <a:lstStyle/>
                    <a:p>
                      <a:pPr algn="ctr" fontAlgn="ctr"/>
                      <a:r>
                        <a:rPr sz="1400" b="1">
                          <a:latin typeface="Arial" panose="020B0604020202020204" pitchFamily="34" charset="0"/>
                          <a:cs typeface="Arial" panose="020B0604020202020204" pitchFamily="34" charset="0"/>
                        </a:rPr>
                        <a:t>10th Sem</a:t>
                      </a:r>
                      <a:endParaRPr sz="1400" b="1">
                        <a:latin typeface="Arial" panose="020B0604020202020204" pitchFamily="34" charset="0"/>
                        <a:cs typeface="Arial" panose="020B0604020202020204" pitchFamily="34" charset="0"/>
                      </a:endParaRPr>
                    </a:p>
                  </a:txBody>
                  <a:tcPr marL="7937" marR="7937" marT="7937" marB="0" anchor="ctr">
                    <a:solidFill>
                      <a:srgbClr val="E9E086"/>
                    </a:solidFill>
                  </a:tcPr>
                </a:tc>
              </a:tr>
              <a:tr h="608965">
                <a:tc>
                  <a:txBody>
                    <a:bodyPr/>
                    <a:lstStyle/>
                    <a:p>
                      <a:pPr algn="ctr" fontAlgn="ctr"/>
                      <a:r>
                        <a:rPr lang="en-US" sz="1400" b="1">
                          <a:latin typeface="Arial" panose="020B0604020202020204" pitchFamily="34" charset="0"/>
                          <a:cs typeface="Arial" panose="020B0604020202020204" pitchFamily="34" charset="0"/>
                        </a:rPr>
                        <a:t>9</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Rimla Ejaz Gul</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Bhatti Flats no 8, peco road, near life pharmacy, lahore.</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BS Mass Communication </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Forman Christian College Lahore </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1st Semester 4.0</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2nd Semester 4.0 </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3rd Sem</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4th Sem</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solidFill>
                      <a:srgbClr val="E9E086"/>
                    </a:solidFill>
                  </a:tcPr>
                </a:tc>
              </a:tr>
              <a:tr h="592455">
                <a:tc>
                  <a:txBody>
                    <a:bodyPr/>
                    <a:lstStyle/>
                    <a:p>
                      <a:pPr algn="ctr" fontAlgn="ctr"/>
                      <a:r>
                        <a:rPr lang="en-US" sz="1400" b="1">
                          <a:latin typeface="Arial" panose="020B0604020202020204" pitchFamily="34" charset="0"/>
                          <a:cs typeface="Arial" panose="020B0604020202020204" pitchFamily="34" charset="0"/>
                        </a:rPr>
                        <a:t>10</a:t>
                      </a: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r>
                        <a:rPr sz="1400" b="1" i="0">
                          <a:solidFill>
                            <a:srgbClr val="434343"/>
                          </a:solidFill>
                          <a:latin typeface="Arial" panose="020B0604020202020204" pitchFamily="34" charset="0"/>
                          <a:ea typeface="Arial" panose="020B0604020202020204"/>
                          <a:cs typeface="Arial" panose="020B0604020202020204" pitchFamily="34" charset="0"/>
                        </a:rPr>
                        <a:t>Rowena Javaid</a:t>
                      </a:r>
                      <a:endParaRPr sz="1400" b="1" i="0">
                        <a:solidFill>
                          <a:srgbClr val="434343"/>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434343"/>
                          </a:solidFill>
                          <a:latin typeface="Arial" panose="020B0604020202020204" pitchFamily="34" charset="0"/>
                          <a:ea typeface="Arial" panose="020B0604020202020204"/>
                          <a:cs typeface="Arial" panose="020B0604020202020204" pitchFamily="34" charset="0"/>
                        </a:rPr>
                        <a:t>House number 238/12 (upper storey) Modern colony kotlakhpat Lahore</a:t>
                      </a:r>
                      <a:endParaRPr sz="1400" b="1" i="0">
                        <a:solidFill>
                          <a:srgbClr val="434343"/>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434343"/>
                          </a:solidFill>
                          <a:latin typeface="Arial" panose="020B0604020202020204" pitchFamily="34" charset="0"/>
                          <a:ea typeface="Arial" panose="020B0604020202020204"/>
                          <a:cs typeface="Arial" panose="020B0604020202020204" pitchFamily="34" charset="0"/>
                        </a:rPr>
                        <a:t>Bachelors in Psychology</a:t>
                      </a:r>
                      <a:endParaRPr sz="1400" b="1" i="0">
                        <a:solidFill>
                          <a:srgbClr val="434343"/>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Forman Christian College Lahore </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434343"/>
                          </a:solidFill>
                          <a:latin typeface="Arial" panose="020B0604020202020204" pitchFamily="34" charset="0"/>
                          <a:ea typeface="Arial" panose="020B0604020202020204"/>
                          <a:cs typeface="Arial" panose="020B0604020202020204" pitchFamily="34" charset="0"/>
                        </a:rPr>
                        <a:t>1st Semester 3.97</a:t>
                      </a:r>
                      <a:endParaRPr sz="1400" b="1" i="0">
                        <a:solidFill>
                          <a:srgbClr val="434343"/>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434343"/>
                          </a:solidFill>
                          <a:latin typeface="Arial" panose="020B0604020202020204" pitchFamily="34" charset="0"/>
                          <a:ea typeface="Arial" panose="020B0604020202020204"/>
                          <a:cs typeface="Arial" panose="020B0604020202020204" pitchFamily="34" charset="0"/>
                        </a:rPr>
                        <a:t>2nd Semester 4.0 </a:t>
                      </a:r>
                      <a:endParaRPr sz="1400" b="1" i="0">
                        <a:solidFill>
                          <a:srgbClr val="434343"/>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3rd Sem 4.0</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noFill/>
                  </a:tcPr>
                </a:tc>
                <a:tc>
                  <a:txBody>
                    <a:bodyPr/>
                    <a:lstStyle/>
                    <a:p>
                      <a:pPr algn="ctr" fontAlgn="ctr"/>
                      <a:r>
                        <a:rPr sz="1400" b="1" i="0">
                          <a:solidFill>
                            <a:srgbClr val="000000"/>
                          </a:solidFill>
                          <a:latin typeface="Arial" panose="020B0604020202020204" pitchFamily="34" charset="0"/>
                          <a:ea typeface="Arial" panose="020B0604020202020204"/>
                          <a:cs typeface="Arial" panose="020B0604020202020204" pitchFamily="34" charset="0"/>
                        </a:rPr>
                        <a:t>4th Sem</a:t>
                      </a:r>
                      <a:endParaRPr sz="14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nchorCtr="0">
                    <a:solidFill>
                      <a:srgbClr val="E9E086"/>
                    </a:solidFill>
                  </a:tcPr>
                </a:tc>
              </a:tr>
              <a:tr h="507365">
                <a:tc>
                  <a:txBody>
                    <a:bodyPr/>
                    <a:lstStyle/>
                    <a:p>
                      <a:pPr algn="ctr" fontAlgn="ctr"/>
                      <a:endParaRPr lang="en-US"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c>
                  <a:txBody>
                    <a:bodyPr/>
                    <a:lstStyle/>
                    <a:p>
                      <a:pPr algn="ctr" fontAlgn="ctr"/>
                      <a:endParaRPr sz="1400" b="1">
                        <a:latin typeface="Arial" panose="020B0604020202020204" pitchFamily="34" charset="0"/>
                        <a:cs typeface="Arial" panose="020B0604020202020204" pitchFamily="34" charset="0"/>
                      </a:endParaRPr>
                    </a:p>
                  </a:txBody>
                  <a:tcPr marL="7937" marR="7937" marT="7937" marB="0" anchor="ctr">
                    <a:noFill/>
                  </a:tcPr>
                </a:tc>
              </a:tr>
            </a:tbl>
          </a:graphicData>
        </a:graphic>
      </p:graphicFrame>
      <p:sp>
        <p:nvSpPr>
          <p:cNvPr id="3" name="Text Box 2"/>
          <p:cNvSpPr txBox="1"/>
          <p:nvPr/>
        </p:nvSpPr>
        <p:spPr>
          <a:xfrm>
            <a:off x="196215" y="191135"/>
            <a:ext cx="8737600" cy="487680"/>
          </a:xfrm>
          <a:prstGeom prst="rect">
            <a:avLst/>
          </a:prstGeom>
          <a:solidFill>
            <a:schemeClr val="accent2">
              <a:lumMod val="20000"/>
              <a:lumOff val="80000"/>
            </a:schemeClr>
          </a:solidFill>
        </p:spPr>
        <p:txBody>
          <a:bodyPr wrap="square" rtlCol="0">
            <a:noAutofit/>
            <a:scene3d>
              <a:camera prst="orthographicFront"/>
              <a:lightRig rig="threePt" dir="t"/>
            </a:scene3d>
          </a:bodyPr>
          <a:lstStyle/>
          <a:p>
            <a:pPr algn="ctr"/>
            <a:r>
              <a:rPr lang="en-US" sz="2400" b="1" dirty="0" smtClean="0">
                <a:ln w="22225">
                  <a:solidFill>
                    <a:schemeClr val="accent2"/>
                  </a:solidFill>
                  <a:prstDash val="solid"/>
                </a:ln>
                <a:solidFill>
                  <a:schemeClr val="accent2">
                    <a:lumMod val="40000"/>
                    <a:lumOff val="60000"/>
                  </a:schemeClr>
                </a:solidFill>
                <a:effectLst/>
                <a:sym typeface="+mn-ea"/>
              </a:rPr>
              <a:t>Ivy Azariah Scholarship awarded in 2025</a:t>
            </a:r>
            <a:endPar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endParaRPr>
          </a:p>
          <a:p>
            <a:r>
              <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rPr>
              <a:t>  </a:t>
            </a:r>
            <a:endParaRPr lang="en-US" sz="2400" b="1" i="0" u="none" strike="noStrike" dirty="0">
              <a:ln w="22225">
                <a:solidFill>
                  <a:schemeClr val="accent2"/>
                </a:solidFill>
                <a:prstDash val="solid"/>
              </a:ln>
              <a:solidFill>
                <a:schemeClr val="accent2">
                  <a:lumMod val="40000"/>
                  <a:lumOff val="60000"/>
                </a:schemeClr>
              </a:solidFill>
              <a:effectLst/>
              <a:latin typeface="Calibri" panose="020F05020202040302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6510" y="0"/>
            <a:ext cx="9110345" cy="487680"/>
          </a:xfrm>
          <a:prstGeom prst="rect">
            <a:avLst/>
          </a:prstGeom>
          <a:solidFill>
            <a:schemeClr val="accent4">
              <a:lumMod val="75000"/>
            </a:schemeClr>
          </a:solidFill>
        </p:spPr>
        <p:txBody>
          <a:bodyPr wrap="square" rtlCol="0">
            <a:noAutofit/>
            <a:scene3d>
              <a:camera prst="orthographicFront"/>
              <a:lightRig rig="threePt" dir="t"/>
            </a:scene3d>
          </a:bodyPr>
          <a:lstStyle/>
          <a:p>
            <a:pPr algn="ctr"/>
            <a:r>
              <a:rPr lang="en-US" sz="2400" b="1" dirty="0" smtClean="0">
                <a:solidFill>
                  <a:schemeClr val="accent5">
                    <a:lumMod val="60000"/>
                    <a:lumOff val="40000"/>
                  </a:schemeClr>
                </a:solidFill>
                <a:effectLst>
                  <a:outerShdw blurRad="38100" dist="19050" dir="2700000" algn="tl" rotWithShape="0">
                    <a:schemeClr val="dk1">
                      <a:alpha val="40000"/>
                    </a:schemeClr>
                  </a:outerShdw>
                </a:effectLst>
                <a:sym typeface="+mn-ea"/>
              </a:rPr>
              <a:t>Robert Mathias Scholarship awarded in 2025</a:t>
            </a:r>
            <a:endParaRPr lang="en-US" sz="2400" b="1" i="0" u="none" strike="noStrike" dirty="0">
              <a:solidFill>
                <a:schemeClr val="tx1"/>
              </a:solidFill>
              <a:effectLst>
                <a:outerShdw blurRad="38100" dist="19050" dir="2700000" algn="tl" rotWithShape="0">
                  <a:schemeClr val="dk1">
                    <a:alpha val="40000"/>
                  </a:schemeClr>
                </a:outerShdw>
              </a:effectLst>
              <a:latin typeface="Calibri" panose="020F0502020204030204" charset="0"/>
            </a:endParaRPr>
          </a:p>
          <a:p>
            <a:endParaRPr lang="en-US" sz="2400" b="1" i="0" u="none" strike="noStrike" dirty="0">
              <a:solidFill>
                <a:schemeClr val="tx1"/>
              </a:solidFill>
              <a:effectLst>
                <a:outerShdw blurRad="38100" dist="19050" dir="2700000" algn="tl" rotWithShape="0">
                  <a:schemeClr val="dk1">
                    <a:alpha val="40000"/>
                  </a:schemeClr>
                </a:outerShdw>
              </a:effectLst>
              <a:latin typeface="Calibri" panose="020F0502020204030204" charset="0"/>
            </a:endParaRPr>
          </a:p>
        </p:txBody>
      </p:sp>
      <p:graphicFrame>
        <p:nvGraphicFramePr>
          <p:cNvPr id="4" name="Table 3"/>
          <p:cNvGraphicFramePr/>
          <p:nvPr>
            <p:custDataLst>
              <p:tags r:id="rId1"/>
            </p:custDataLst>
          </p:nvPr>
        </p:nvGraphicFramePr>
        <p:xfrm>
          <a:off x="86995" y="476250"/>
          <a:ext cx="8828405" cy="6234430"/>
        </p:xfrm>
        <a:graphic>
          <a:graphicData uri="http://schemas.openxmlformats.org/drawingml/2006/table">
            <a:tbl>
              <a:tblPr/>
              <a:tblGrid>
                <a:gridCol w="716915"/>
                <a:gridCol w="1336040"/>
                <a:gridCol w="1214120"/>
                <a:gridCol w="1454150"/>
                <a:gridCol w="1123315"/>
                <a:gridCol w="943610"/>
                <a:gridCol w="1253490"/>
                <a:gridCol w="786765"/>
              </a:tblGrid>
              <a:tr h="739775">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Sr.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Name</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Degree Program Studying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Institution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Spring 2024 Semester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Fall 2024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Spring 2025 Semester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Fall 2025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60000"/>
                        <a:lumOff val="40000"/>
                      </a:schemeClr>
                    </a:solidFill>
                  </a:tcPr>
                </a:tc>
              </a:tr>
              <a:tr h="467995">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1</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Eglaim Pervaiz</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BS-Business</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Forman Christian College University</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3rd Semester 4.0</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4th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5th Semester</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6th Semester</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467360">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2</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Eshna Ejaz</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BS Business</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Forman Christian College University</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5th Semester 4.0</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6th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7th Semester </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8th Semester</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445770">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3</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Shalal Farhat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BS Business</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Forman Christian College University</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3rd Semester 4.0</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4th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5th Semester </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6th Semester</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405765">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4</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Umair Asif  </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BS Business</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Forman Christian College University</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3rd Semester 2.47</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4th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a:solidFill>
                            <a:srgbClr val="000000"/>
                          </a:solidFill>
                          <a:latin typeface="Arial" panose="020B0604020202020204" pitchFamily="34" charset="0"/>
                          <a:ea typeface="Calibri" panose="020F0502020204030204"/>
                          <a:cs typeface="Arial" panose="020B0604020202020204" pitchFamily="34" charset="0"/>
                          <a:sym typeface="+mn-ea"/>
                        </a:rPr>
                        <a:t>5th Semester</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lstStyle/>
                    <a:p>
                      <a:pPr algn="ctr" fontAlgn="ctr"/>
                      <a:r>
                        <a:rPr lang="en-US" sz="1200" b="1" i="0">
                          <a:solidFill>
                            <a:srgbClr val="000000"/>
                          </a:solidFill>
                          <a:latin typeface="Arial" panose="020B0604020202020204" pitchFamily="34" charset="0"/>
                          <a:ea typeface="Calibri" panose="020F0502020204030204"/>
                          <a:cs typeface="Arial" panose="020B0604020202020204" pitchFamily="34" charset="0"/>
                        </a:rPr>
                        <a:t>6th Semester</a:t>
                      </a:r>
                      <a:endParaRPr lang="en-US"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560705">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5</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Godwin cornelius</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BS-Business</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Forman christian college university</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4th Semester 4.0</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F9FA"/>
                    </a:solid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5th Semester 4.0</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6th Semester 3.66</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c>
                  <a:txBody>
                    <a:bodyPr/>
                    <a:lstStyle/>
                    <a:p>
                      <a:pPr algn="ctr" fontAlgn="ctr"/>
                      <a:r>
                        <a:rPr sz="1200" b="1" i="0">
                          <a:solidFill>
                            <a:srgbClr val="434343"/>
                          </a:solidFill>
                          <a:latin typeface="Arial" panose="020B0604020202020204" pitchFamily="34" charset="0"/>
                          <a:ea typeface="Calibri Light" panose="020F0302020204030204"/>
                          <a:cs typeface="Arial" panose="020B0604020202020204" pitchFamily="34" charset="0"/>
                        </a:rPr>
                        <a:t>7th Semester </a:t>
                      </a:r>
                      <a:endParaRPr sz="1200" b="1" i="0">
                        <a:solidFill>
                          <a:srgbClr val="434343"/>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r h="556260">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6</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Armitiah Sheral</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BS-Accounting &amp; Finance</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Kinnaird College for Women</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F.Sc 844/1200 70.3% </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1st Semester 3.24</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2nd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3rd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r h="556260">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7</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David Joseph Firdous</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BBMA</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University of Management and Technology Lahore </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F.Sc 481/1100  43.7%</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1st Semester 3.52</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2nd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3rd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r h="556260">
                <a:tc>
                  <a:txBody>
                    <a:bodyPr/>
                    <a:lstStyle/>
                    <a:p>
                      <a:pPr algn="ctr" fontAlgn="ctr"/>
                      <a:r>
                        <a:rPr sz="1200" b="1" i="0">
                          <a:solidFill>
                            <a:srgbClr val="000000"/>
                          </a:solidFill>
                          <a:latin typeface="Arial" panose="020B0604020202020204" pitchFamily="34" charset="0"/>
                          <a:ea typeface="Calibri" panose="020F0502020204030204"/>
                          <a:cs typeface="Arial" panose="020B0604020202020204" pitchFamily="34" charset="0"/>
                        </a:rPr>
                        <a:t>8</a:t>
                      </a: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Shayan Imtiaz</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BBA</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KUST University Kohat</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F.Sc 69.1%</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1st Semester 3.58</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2nd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Calibri Light" panose="020F0302020204030204"/>
                          <a:cs typeface="Arial" panose="020B0604020202020204" pitchFamily="34" charset="0"/>
                        </a:rPr>
                        <a:t>3rd Semester</a:t>
                      </a:r>
                      <a:endParaRPr sz="1200" b="1" i="0">
                        <a:solidFill>
                          <a:srgbClr val="000000"/>
                        </a:solidFill>
                        <a:latin typeface="Arial" panose="020B0604020202020204" pitchFamily="34" charset="0"/>
                        <a:ea typeface="Calibri Light" panose="020F03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r h="739140">
                <a:tc>
                  <a:txBody>
                    <a:bodyPr/>
                    <a:lstStyle/>
                    <a:p>
                      <a:pPr algn="ctr" fontAlgn="ctr"/>
                      <a:r>
                        <a:rPr sz="1200" b="1" i="0">
                          <a:solidFill>
                            <a:srgbClr val="000000"/>
                          </a:solidFill>
                          <a:latin typeface="Arial" panose="020B0604020202020204" pitchFamily="34" charset="0"/>
                          <a:ea typeface="Corbel" panose="020B0503020204020204"/>
                          <a:cs typeface="Arial" panose="020B0604020202020204" pitchFamily="34" charset="0"/>
                        </a:rPr>
                        <a:t>9</a:t>
                      </a:r>
                      <a:endParaRPr sz="1200" b="1" i="0">
                        <a:solidFill>
                          <a:srgbClr val="000000"/>
                        </a:solidFill>
                        <a:latin typeface="Arial" panose="020B0604020202020204" pitchFamily="34" charset="0"/>
                        <a:ea typeface="Corbel" panose="020B050302020402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Adam Russel Candara</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ACCA</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Institute of Chartered Accountants of Pakistan (ICAP) </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Arial" panose="020B0604020202020204"/>
                          <a:cs typeface="Arial" panose="020B0604020202020204" pitchFamily="34" charset="0"/>
                        </a:rPr>
                        <a:t>B.Com 790/1400 56.4%</a:t>
                      </a:r>
                      <a:endParaRPr sz="12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Pass marks 52 </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r h="739140">
                <a:tc>
                  <a:txBody>
                    <a:bodyPr/>
                    <a:lstStyle/>
                    <a:p>
                      <a:pPr algn="ctr" fontAlgn="ctr"/>
                      <a:r>
                        <a:rPr sz="1200" b="1" i="0">
                          <a:solidFill>
                            <a:srgbClr val="000000"/>
                          </a:solidFill>
                          <a:latin typeface="Arial" panose="020B0604020202020204" pitchFamily="34" charset="0"/>
                          <a:ea typeface="Corbel" panose="020B0503020204020204"/>
                          <a:cs typeface="Arial" panose="020B0604020202020204" pitchFamily="34" charset="0"/>
                        </a:rPr>
                        <a:t>10</a:t>
                      </a:r>
                      <a:endParaRPr sz="1200" b="1" i="0">
                        <a:solidFill>
                          <a:srgbClr val="000000"/>
                        </a:solidFill>
                        <a:latin typeface="Arial" panose="020B0604020202020204" pitchFamily="34" charset="0"/>
                        <a:ea typeface="Corbel" panose="020B050302020402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Shulmiat Tariq Gill</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Chartered accountancy</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Crescent college of accountancy</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sz="1200" b="1" i="0">
                          <a:solidFill>
                            <a:srgbClr val="000000"/>
                          </a:solidFill>
                          <a:latin typeface="Arial" panose="020B0604020202020204" pitchFamily="34" charset="0"/>
                          <a:ea typeface="Arial" panose="020B0604020202020204"/>
                          <a:cs typeface="Arial" panose="020B0604020202020204" pitchFamily="34" charset="0"/>
                        </a:rPr>
                        <a:t>Company law, F&amp;R2</a:t>
                      </a:r>
                      <a:r>
                        <a:rPr lang="en-US" sz="1200" b="1" i="0">
                          <a:solidFill>
                            <a:srgbClr val="000000"/>
                          </a:solidFill>
                          <a:latin typeface="Arial" panose="020B0604020202020204" pitchFamily="34" charset="0"/>
                          <a:ea typeface="Arial" panose="020B0604020202020204"/>
                          <a:cs typeface="Arial" panose="020B0604020202020204" pitchFamily="34" charset="0"/>
                        </a:rPr>
                        <a:t> </a:t>
                      </a:r>
                      <a:r>
                        <a:rPr sz="1200" b="1" i="0">
                          <a:solidFill>
                            <a:srgbClr val="000000"/>
                          </a:solidFill>
                          <a:latin typeface="Arial" panose="020B0604020202020204" pitchFamily="34" charset="0"/>
                          <a:ea typeface="Arial" panose="020B0604020202020204"/>
                          <a:cs typeface="Arial" panose="020B0604020202020204" pitchFamily="34" charset="0"/>
                        </a:rPr>
                        <a:t>Cost</a:t>
                      </a:r>
                      <a:r>
                        <a:rPr lang="en-US" sz="1200" b="1" i="0">
                          <a:solidFill>
                            <a:srgbClr val="000000"/>
                          </a:solidFill>
                          <a:latin typeface="Arial" panose="020B0604020202020204" pitchFamily="34" charset="0"/>
                          <a:ea typeface="Arial" panose="020B0604020202020204"/>
                          <a:cs typeface="Arial" panose="020B0604020202020204" pitchFamily="34" charset="0"/>
                        </a:rPr>
                        <a:t> &amp; </a:t>
                      </a:r>
                      <a:r>
                        <a:rPr sz="1200" b="1" i="0">
                          <a:solidFill>
                            <a:srgbClr val="000000"/>
                          </a:solidFill>
                          <a:latin typeface="Arial" panose="020B0604020202020204" pitchFamily="34" charset="0"/>
                          <a:ea typeface="Arial" panose="020B0604020202020204"/>
                          <a:cs typeface="Arial" panose="020B0604020202020204" pitchFamily="34" charset="0"/>
                        </a:rPr>
                        <a:t>management accounting</a:t>
                      </a:r>
                      <a:endParaRPr sz="1200" b="1" i="0">
                        <a:solidFill>
                          <a:srgbClr val="000000"/>
                        </a:solidFill>
                        <a:latin typeface="Arial" panose="020B0604020202020204" pitchFamily="34" charset="0"/>
                        <a:ea typeface="Arial" panose="020B060402020202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2 papers pass</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c>
                  <a:txBody>
                    <a:bodyPr/>
                    <a:lstStyle/>
                    <a:p>
                      <a:pPr algn="ctr" fontAlgn="ctr"/>
                      <a:r>
                        <a:rPr sz="1200" b="1" i="0">
                          <a:solidFill>
                            <a:srgbClr val="434343"/>
                          </a:solidFill>
                          <a:latin typeface="Arial" panose="020B0604020202020204" pitchFamily="34" charset="0"/>
                          <a:ea typeface="Calibri" panose="020F0502020204030204"/>
                          <a:cs typeface="Arial" panose="020B0604020202020204" pitchFamily="34" charset="0"/>
                        </a:rPr>
                        <a:t>Status:P.Credit in 1-paper CMA=*CLW=pass</a:t>
                      </a:r>
                      <a:endParaRPr sz="1200" b="1" i="0">
                        <a:solidFill>
                          <a:srgbClr val="434343"/>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c>
                  <a:txBody>
                    <a:bodyPr/>
                    <a:lstStyle/>
                    <a:p>
                      <a:pPr algn="ctr" fontAlgn="ctr"/>
                      <a:endParaRPr sz="1200" b="1" i="0">
                        <a:solidFill>
                          <a:srgbClr val="000000"/>
                        </a:solidFill>
                        <a:latin typeface="Arial" panose="020B0604020202020204" pitchFamily="34" charset="0"/>
                        <a:ea typeface="Calibri" panose="020F0502020204030204"/>
                        <a:cs typeface="Arial" panose="020B0604020202020204" pitchFamily="34" charset="0"/>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DEBF7"/>
                    </a:solidFill>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4350" y="371475"/>
            <a:ext cx="4410710" cy="957580"/>
          </a:xfrm>
        </p:spPr>
        <p:txBody>
          <a:bodyPr/>
          <a:lstStyle/>
          <a:p>
            <a:r>
              <a:rPr lang="en-US">
                <a:solidFill>
                  <a:schemeClr val="tx1"/>
                </a:solidFill>
              </a:rPr>
              <a:t>RAPID-TEAM </a:t>
            </a:r>
            <a:endParaRPr lang="en-US">
              <a:solidFill>
                <a:schemeClr val="tx1"/>
              </a:solidFill>
            </a:endParaRPr>
          </a:p>
        </p:txBody>
      </p:sp>
      <p:sp>
        <p:nvSpPr>
          <p:cNvPr id="4" name="Content Placeholder 3"/>
          <p:cNvSpPr>
            <a:spLocks noGrp="1"/>
          </p:cNvSpPr>
          <p:nvPr>
            <p:ph idx="1"/>
          </p:nvPr>
        </p:nvSpPr>
        <p:spPr>
          <a:xfrm>
            <a:off x="439420" y="1506220"/>
            <a:ext cx="4920615" cy="3382010"/>
          </a:xfrm>
        </p:spPr>
        <p:txBody>
          <a:bodyPr>
            <a:normAutofit lnSpcReduction="10000"/>
          </a:bodyPr>
          <a:lstStyle/>
          <a:p>
            <a:pPr marL="34290" indent="0">
              <a:buNone/>
            </a:pPr>
            <a:r>
              <a:rPr lang="en-US" altLang="en-US">
                <a:solidFill>
                  <a:schemeClr val="tx1"/>
                </a:solidFill>
              </a:rPr>
              <a:t>We have an excellent team that works in close coordination under the leadership of our RAPID CEO. Whether it's discussing student matters, managing finances, arranging events, communicating with students, or handling fee payments, we collaborate effectively. We hold bi-monthly Zoom meetings, regardless of our locations, whether in California, Lahore, or Rawalpindi. Our RAPID team members are highly qualified and possess vast experience in their respective fields.</a:t>
            </a:r>
            <a:endParaRPr lang="en-US" altLang="en-US">
              <a:solidFill>
                <a:schemeClr val="tx1"/>
              </a:solidFill>
            </a:endParaRPr>
          </a:p>
          <a:p>
            <a:pPr marL="34290" indent="0">
              <a:buNone/>
            </a:pPr>
            <a:endParaRPr lang="en-US" altLang="en-US">
              <a:solidFill>
                <a:schemeClr val="tx1"/>
              </a:solidFill>
            </a:endParaRPr>
          </a:p>
        </p:txBody>
      </p:sp>
      <p:pic>
        <p:nvPicPr>
          <p:cNvPr id="5" name="Picture 4" descr="WhatsApp Image 2025-08-16 at 16.27.49_e013a1f0"/>
          <p:cNvPicPr>
            <a:picLocks noChangeAspect="1"/>
          </p:cNvPicPr>
          <p:nvPr/>
        </p:nvPicPr>
        <p:blipFill>
          <a:blip r:embed="rId1"/>
          <a:srcRect t="41602" b="4028"/>
          <a:stretch>
            <a:fillRect/>
          </a:stretch>
        </p:blipFill>
        <p:spPr>
          <a:xfrm>
            <a:off x="5511165" y="307340"/>
            <a:ext cx="3332480" cy="3728720"/>
          </a:xfrm>
          <a:prstGeom prst="rect">
            <a:avLst/>
          </a:prstGeom>
        </p:spPr>
      </p:pic>
      <p:sp>
        <p:nvSpPr>
          <p:cNvPr id="6" name="Text Box 5"/>
          <p:cNvSpPr txBox="1"/>
          <p:nvPr/>
        </p:nvSpPr>
        <p:spPr>
          <a:xfrm>
            <a:off x="439420" y="4612640"/>
            <a:ext cx="8950325" cy="1783715"/>
          </a:xfrm>
          <a:prstGeom prst="rect">
            <a:avLst/>
          </a:prstGeom>
          <a:noFill/>
        </p:spPr>
        <p:txBody>
          <a:bodyPr wrap="square" rtlCol="0">
            <a:spAutoFit/>
          </a:bodyPr>
          <a:lstStyle/>
          <a:p>
            <a:r>
              <a:rPr lang="en-US" sz="2000" b="1" u="sng"/>
              <a:t>Our Team members are</a:t>
            </a:r>
            <a:r>
              <a:rPr lang="en-US"/>
              <a:t> </a:t>
            </a:r>
            <a:endParaRPr lang="en-US"/>
          </a:p>
          <a:p>
            <a:endParaRPr lang="en-US"/>
          </a:p>
          <a:p>
            <a:r>
              <a:rPr lang="en-US"/>
              <a:t>1-CEO-RAPID (Rev. Dr. Khushnud Azariah)</a:t>
            </a:r>
            <a:endParaRPr lang="en-US"/>
          </a:p>
          <a:p>
            <a:r>
              <a:rPr lang="en-US"/>
              <a:t>2- RAPID-Liason staff for students communication (ReshaQadirBakhsh)</a:t>
            </a:r>
            <a:endParaRPr lang="en-US"/>
          </a:p>
          <a:p>
            <a:r>
              <a:rPr lang="en-US"/>
              <a:t>3-RAPID-Finance officer (Uphaz Tasawar)</a:t>
            </a:r>
            <a:endParaRPr lang="en-US"/>
          </a:p>
          <a:p>
            <a:r>
              <a:rPr lang="en-US"/>
              <a:t>4- RAPID-Office Admn &amp; Digital Media Manager (Azhar Adil) </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7275" y="2651125"/>
            <a:ext cx="7501890" cy="2553335"/>
          </a:xfrm>
          <a:prstGeom prst="rect">
            <a:avLst/>
          </a:prstGeom>
          <a:solidFill>
            <a:schemeClr val="accent6">
              <a:lumMod val="20000"/>
              <a:lumOff val="80000"/>
            </a:schemeClr>
          </a:solidFill>
          <a:scene3d>
            <a:camera prst="orthographicFront"/>
            <a:lightRig rig="threePt" dir="t"/>
          </a:scene3d>
          <a:sp3d>
            <a:bevelT/>
          </a:sp3d>
        </p:spPr>
        <p:txBody>
          <a:bodyPr wrap="square">
            <a:spAutoFit/>
          </a:bodyPr>
          <a:lstStyle/>
          <a:p>
            <a:pPr algn="ctr"/>
            <a:r>
              <a:rPr lang="en-US" altLang="en-US" sz="4000">
                <a:sym typeface="+mn-ea"/>
              </a:rPr>
              <a:t>"Out ofSchool", </a:t>
            </a:r>
            <a:endParaRPr lang="en-US" altLang="en-US" sz="4000">
              <a:sym typeface="+mn-ea"/>
            </a:endParaRPr>
          </a:p>
          <a:p>
            <a:pPr algn="ctr"/>
            <a:r>
              <a:rPr lang="en-US" altLang="en-US" sz="4000">
                <a:sym typeface="+mn-ea"/>
              </a:rPr>
              <a:t>Mughalabad, Rawalpindi  </a:t>
            </a:r>
            <a:endParaRPr lang="en-US" altLang="en-US" sz="4000">
              <a:sym typeface="+mn-ea"/>
            </a:endParaRPr>
          </a:p>
          <a:p>
            <a:pPr algn="ctr"/>
            <a:r>
              <a:rPr lang="en-US" altLang="en-US" sz="4000">
                <a:sym typeface="+mn-ea"/>
              </a:rPr>
              <a:t>Report</a:t>
            </a:r>
            <a:endParaRPr lang="en-US" altLang="en-US" sz="4000"/>
          </a:p>
          <a:p>
            <a:pPr algn="ctr"/>
            <a:endParaRPr lang="en-US" sz="4000"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97006" y="730201"/>
            <a:ext cx="1192430" cy="1215215"/>
          </a:xfrm>
          <a:custGeom>
            <a:avLst/>
            <a:gdLst/>
            <a:ahLst/>
            <a:cxnLst/>
            <a:rect l="l" t="t" r="r" b="b"/>
            <a:pathLst>
              <a:path w="2384859" h="2430429">
                <a:moveTo>
                  <a:pt x="0" y="0"/>
                </a:moveTo>
                <a:lnTo>
                  <a:pt x="2384859" y="0"/>
                </a:lnTo>
                <a:lnTo>
                  <a:pt x="2384859" y="2430429"/>
                </a:lnTo>
                <a:lnTo>
                  <a:pt x="0" y="2430429"/>
                </a:lnTo>
                <a:lnTo>
                  <a:pt x="0" y="0"/>
                </a:lnTo>
                <a:close/>
              </a:path>
            </a:pathLst>
          </a:custGeom>
          <a:blipFill>
            <a:blip r:embed="rId1"/>
            <a:stretch>
              <a:fillRect/>
            </a:stretch>
          </a:blipFill>
        </p:spPr>
      </p:sp>
      <p:sp>
        <p:nvSpPr>
          <p:cNvPr id="3" name="Freeform 3"/>
          <p:cNvSpPr/>
          <p:nvPr/>
        </p:nvSpPr>
        <p:spPr>
          <a:xfrm rot="-2331782">
            <a:off x="1311220" y="464185"/>
            <a:ext cx="771392" cy="786132"/>
          </a:xfrm>
          <a:custGeom>
            <a:avLst/>
            <a:gdLst/>
            <a:ahLst/>
            <a:cxnLst/>
            <a:rect l="l" t="t" r="r" b="b"/>
            <a:pathLst>
              <a:path w="1542783" h="1572263">
                <a:moveTo>
                  <a:pt x="0" y="0"/>
                </a:moveTo>
                <a:lnTo>
                  <a:pt x="1542782" y="0"/>
                </a:lnTo>
                <a:lnTo>
                  <a:pt x="1542782" y="1572262"/>
                </a:lnTo>
                <a:lnTo>
                  <a:pt x="0" y="1572262"/>
                </a:lnTo>
                <a:lnTo>
                  <a:pt x="0" y="0"/>
                </a:lnTo>
                <a:close/>
              </a:path>
            </a:pathLst>
          </a:custGeom>
          <a:blipFill>
            <a:blip r:embed="rId1"/>
            <a:stretch>
              <a:fillRect/>
            </a:stretch>
          </a:blipFill>
        </p:spPr>
      </p:sp>
      <p:sp>
        <p:nvSpPr>
          <p:cNvPr id="4" name="Freeform 4"/>
          <p:cNvSpPr/>
          <p:nvPr/>
        </p:nvSpPr>
        <p:spPr>
          <a:xfrm rot="-2331782">
            <a:off x="327915" y="1201410"/>
            <a:ext cx="1078206" cy="1098809"/>
          </a:xfrm>
          <a:custGeom>
            <a:avLst/>
            <a:gdLst/>
            <a:ahLst/>
            <a:cxnLst/>
            <a:rect l="l" t="t" r="r" b="b"/>
            <a:pathLst>
              <a:path w="2156412" h="2197617">
                <a:moveTo>
                  <a:pt x="0" y="0"/>
                </a:moveTo>
                <a:lnTo>
                  <a:pt x="2156411" y="0"/>
                </a:lnTo>
                <a:lnTo>
                  <a:pt x="2156411" y="2197617"/>
                </a:lnTo>
                <a:lnTo>
                  <a:pt x="0" y="2197617"/>
                </a:lnTo>
                <a:lnTo>
                  <a:pt x="0" y="0"/>
                </a:lnTo>
                <a:close/>
              </a:path>
            </a:pathLst>
          </a:custGeom>
          <a:blipFill>
            <a:blip r:embed="rId1"/>
            <a:stretch>
              <a:fillRect/>
            </a:stretch>
          </a:blipFill>
        </p:spPr>
      </p:sp>
      <p:sp>
        <p:nvSpPr>
          <p:cNvPr id="5" name="Freeform 5"/>
          <p:cNvSpPr/>
          <p:nvPr/>
        </p:nvSpPr>
        <p:spPr>
          <a:xfrm>
            <a:off x="371564" y="2652251"/>
            <a:ext cx="293916" cy="293548"/>
          </a:xfrm>
          <a:custGeom>
            <a:avLst/>
            <a:gdLst/>
            <a:ahLst/>
            <a:cxnLst/>
            <a:rect l="l" t="t" r="r" b="b"/>
            <a:pathLst>
              <a:path w="587831" h="587096">
                <a:moveTo>
                  <a:pt x="0" y="0"/>
                </a:moveTo>
                <a:lnTo>
                  <a:pt x="587831" y="0"/>
                </a:lnTo>
                <a:lnTo>
                  <a:pt x="587831" y="587096"/>
                </a:lnTo>
                <a:lnTo>
                  <a:pt x="0" y="587096"/>
                </a:lnTo>
                <a:lnTo>
                  <a:pt x="0" y="0"/>
                </a:lnTo>
                <a:close/>
              </a:path>
            </a:pathLst>
          </a:custGeom>
          <a:blipFill>
            <a:blip r:embed="rId2"/>
            <a:stretch>
              <a:fillRect/>
            </a:stretch>
          </a:blipFill>
        </p:spPr>
      </p:sp>
      <p:sp>
        <p:nvSpPr>
          <p:cNvPr id="6" name="Freeform 6"/>
          <p:cNvSpPr/>
          <p:nvPr/>
        </p:nvSpPr>
        <p:spPr>
          <a:xfrm>
            <a:off x="8395062" y="2047761"/>
            <a:ext cx="293916" cy="293548"/>
          </a:xfrm>
          <a:custGeom>
            <a:avLst/>
            <a:gdLst/>
            <a:ahLst/>
            <a:cxnLst/>
            <a:rect l="l" t="t" r="r" b="b"/>
            <a:pathLst>
              <a:path w="587831" h="587096">
                <a:moveTo>
                  <a:pt x="0" y="0"/>
                </a:moveTo>
                <a:lnTo>
                  <a:pt x="587832" y="0"/>
                </a:lnTo>
                <a:lnTo>
                  <a:pt x="587832" y="587097"/>
                </a:lnTo>
                <a:lnTo>
                  <a:pt x="0" y="587097"/>
                </a:lnTo>
                <a:lnTo>
                  <a:pt x="0" y="0"/>
                </a:lnTo>
                <a:close/>
              </a:path>
            </a:pathLst>
          </a:custGeom>
          <a:blipFill>
            <a:blip r:embed="rId2"/>
            <a:stretch>
              <a:fillRect/>
            </a:stretch>
          </a:blipFill>
        </p:spPr>
      </p:sp>
      <p:grpSp>
        <p:nvGrpSpPr>
          <p:cNvPr id="7" name="Group 7"/>
          <p:cNvGrpSpPr/>
          <p:nvPr/>
        </p:nvGrpSpPr>
        <p:grpSpPr>
          <a:xfrm rot="0">
            <a:off x="371475" y="3204845"/>
            <a:ext cx="2802255" cy="2742565"/>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t="-14750" b="-63242"/>
              </a:stretch>
            </a:blipFill>
          </p:spPr>
        </p:sp>
      </p:grpSp>
      <p:grpSp>
        <p:nvGrpSpPr>
          <p:cNvPr id="9" name="Group 9"/>
          <p:cNvGrpSpPr/>
          <p:nvPr/>
        </p:nvGrpSpPr>
        <p:grpSpPr>
          <a:xfrm rot="0">
            <a:off x="5307965" y="3070225"/>
            <a:ext cx="3510915" cy="328993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8888" r="-38888"/>
              </a:stretch>
            </a:blipFill>
          </p:spPr>
        </p:sp>
      </p:grpSp>
      <p:sp>
        <p:nvSpPr>
          <p:cNvPr id="11" name="TextBox 11"/>
          <p:cNvSpPr txBox="1"/>
          <p:nvPr/>
        </p:nvSpPr>
        <p:spPr>
          <a:xfrm>
            <a:off x="1377950" y="438150"/>
            <a:ext cx="6657975" cy="1129030"/>
          </a:xfrm>
          <a:prstGeom prst="rect">
            <a:avLst/>
          </a:prstGeom>
        </p:spPr>
        <p:txBody>
          <a:bodyPr lIns="0" tIns="0" rIns="0" bIns="0" rtlCol="0" anchor="t">
            <a:noAutofit/>
          </a:bodyPr>
          <a:lstStyle/>
          <a:p>
            <a:pPr algn="ctr">
              <a:lnSpc>
                <a:spcPts val="770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AL-NOOR LEARNING CENTER</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algn="ctr">
              <a:lnSpc>
                <a:spcPts val="7700"/>
              </a:lnSpc>
            </a:pP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12" name="TextBox 12"/>
          <p:cNvSpPr txBox="1"/>
          <p:nvPr/>
        </p:nvSpPr>
        <p:spPr>
          <a:xfrm>
            <a:off x="2807940" y="1737411"/>
            <a:ext cx="3328095" cy="915035"/>
          </a:xfrm>
          <a:prstGeom prst="rect">
            <a:avLst/>
          </a:prstGeom>
        </p:spPr>
        <p:txBody>
          <a:bodyPr lIns="0" tIns="0" rIns="0" bIns="0" rtlCol="0" anchor="t">
            <a:spAutoFit/>
          </a:bodyPr>
          <a:lstStyle/>
          <a:p>
            <a:pPr algn="ctr">
              <a:lnSpc>
                <a:spcPts val="7140"/>
              </a:lnSpc>
              <a:spcBef>
                <a:spcPct val="0"/>
              </a:spcBef>
            </a:pPr>
            <a:r>
              <a:rPr lang="en-US" sz="2550">
                <a:solidFill>
                  <a:srgbClr val="000000"/>
                </a:solidFill>
                <a:latin typeface="Times New Roman" panose="02020603050405020304"/>
                <a:ea typeface="Times New Roman" panose="02020603050405020304"/>
                <a:cs typeface="Times New Roman" panose="02020603050405020304"/>
                <a:sym typeface="Times New Roman" panose="02020603050405020304"/>
              </a:rPr>
              <a:t>“No Child Left Behind”</a:t>
            </a:r>
            <a:endParaRPr lang="en-US" sz="25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TextBox 13"/>
          <p:cNvSpPr txBox="1"/>
          <p:nvPr/>
        </p:nvSpPr>
        <p:spPr>
          <a:xfrm>
            <a:off x="2572462" y="3069624"/>
            <a:ext cx="3563573" cy="843280"/>
          </a:xfrm>
          <a:prstGeom prst="rect">
            <a:avLst/>
          </a:prstGeom>
        </p:spPr>
        <p:txBody>
          <a:bodyPr lIns="0" tIns="0" rIns="0" bIns="0" rtlCol="0" anchor="t">
            <a:spAutoFit/>
          </a:bodyPr>
          <a:lstStyle/>
          <a:p>
            <a:pPr algn="ctr">
              <a:lnSpc>
                <a:spcPts val="6580"/>
              </a:lnSpc>
              <a:spcBef>
                <a:spcPct val="0"/>
              </a:spcBef>
            </a:pPr>
            <a:r>
              <a:rPr lang="en-US" sz="23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Teachers Training </a:t>
            </a:r>
            <a:endParaRPr lang="en-US" sz="23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custDataLst>
              <p:tags r:id="rId1"/>
            </p:custDataLst>
          </p:nvPr>
        </p:nvGraphicFramePr>
        <p:xfrm>
          <a:off x="173990" y="1121410"/>
          <a:ext cx="8646160" cy="5424170"/>
        </p:xfrm>
        <a:graphic>
          <a:graphicData uri="http://schemas.openxmlformats.org/drawingml/2006/table">
            <a:tbl>
              <a:tblPr/>
              <a:tblGrid>
                <a:gridCol w="1304290"/>
                <a:gridCol w="1402715"/>
                <a:gridCol w="1003935"/>
                <a:gridCol w="1135380"/>
                <a:gridCol w="3799840"/>
              </a:tblGrid>
              <a:tr h="568960">
                <a:tc>
                  <a:txBody>
                    <a:bodyPr rtlCol="0"/>
                    <a:lstStyle/>
                    <a:p>
                      <a:pPr algn="ctr">
                        <a:lnSpc>
                          <a:spcPts val="2940"/>
                        </a:lnSpc>
                        <a:defRPr/>
                      </a:pPr>
                      <a:r>
                        <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Month </a:t>
                      </a:r>
                      <a:endPar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Total Student</a:t>
                      </a:r>
                      <a:endPar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Boys</a:t>
                      </a:r>
                      <a:endPar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Girls</a:t>
                      </a:r>
                      <a:endPar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Key Notes</a:t>
                      </a:r>
                      <a:endParaRPr lang="en-US" sz="1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56896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January </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20</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12</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8</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Baseline data</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66040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February</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21</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13</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8</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 new student enrolled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56896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March</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11</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6</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80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4 students left </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65024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April</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18</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11</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38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 student transferred to a formal school</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561975">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May</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9</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8</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52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9 student mainstreamed</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63627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June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10</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2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Summer vacation begins on 13 June</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838200">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July </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10</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94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7</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2520"/>
                        </a:lnSpc>
                        <a:defRPr/>
                      </a:pPr>
                      <a:r>
                        <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rPr>
                        <a:t>1 girl dropped from Nursery</a:t>
                      </a:r>
                      <a:endParaRPr lang="en-US" sz="1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0" marR="95250" marT="95250" marB="9525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sp>
        <p:nvSpPr>
          <p:cNvPr id="3" name="TextBox 3"/>
          <p:cNvSpPr txBox="1"/>
          <p:nvPr/>
        </p:nvSpPr>
        <p:spPr>
          <a:xfrm>
            <a:off x="370205" y="339090"/>
            <a:ext cx="8536305" cy="782320"/>
          </a:xfrm>
          <a:prstGeom prst="rect">
            <a:avLst/>
          </a:prstGeom>
        </p:spPr>
        <p:txBody>
          <a:bodyPr lIns="0" tIns="0" rIns="0" bIns="0" rtlCol="0" anchor="t">
            <a:noAutofit/>
          </a:bodyPr>
          <a:lstStyle/>
          <a:p>
            <a:pPr algn="ctr">
              <a:lnSpc>
                <a:spcPts val="5460"/>
              </a:lnSpc>
              <a:spcBef>
                <a:spcPct val="0"/>
              </a:spcBef>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Monthly Enrollment Summary – January to July 2025</a:t>
            </a:r>
            <a:endPar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34565" y="291465"/>
            <a:ext cx="4660265" cy="538480"/>
          </a:xfrm>
          <a:prstGeom prst="rect">
            <a:avLst/>
          </a:prstGeom>
        </p:spPr>
        <p:txBody>
          <a:bodyPr wrap="square" lIns="0" tIns="0" rIns="0" bIns="0" rtlCol="0" anchor="t">
            <a:spAutoFit/>
          </a:bodyPr>
          <a:lstStyle/>
          <a:p>
            <a:pPr algn="ctr">
              <a:lnSpc>
                <a:spcPts val="4200"/>
              </a:lnSpc>
              <a:spcBef>
                <a:spcPct val="0"/>
              </a:spcBef>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Major development</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3" name="TextBox 3"/>
          <p:cNvSpPr txBox="1"/>
          <p:nvPr/>
        </p:nvSpPr>
        <p:spPr>
          <a:xfrm>
            <a:off x="414655" y="1026795"/>
            <a:ext cx="8566150" cy="5269230"/>
          </a:xfrm>
          <a:prstGeom prst="rect">
            <a:avLst/>
          </a:prstGeom>
        </p:spPr>
        <p:txBody>
          <a:bodyPr wrap="square" lIns="0" tIns="0" rIns="0" bIns="0" rtlCol="0" anchor="t">
            <a:noAutofit/>
          </a:bodyPr>
          <a:lstStyle/>
          <a:p>
            <a:pPr algn="ctr">
              <a:lnSpc>
                <a:spcPts val="2800"/>
              </a:lnSpc>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In May 2025, a significant milestone was achieved when nine students who had previously been receiving foundational education at Al-Noor Learning Center were successfully mainstreamed into Spectrum School.</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a:lnSpc>
                <a:spcPts val="2800"/>
              </a:lnSpc>
            </a:pPr>
            <a:endParaRPr>
              <a:latin typeface="Corbel" panose="020B0503020204020204" pitchFamily="34" charset="0"/>
              <a:cs typeface="Corbel" panose="020B0503020204020204" pitchFamily="34" charset="0"/>
            </a:endParaRPr>
          </a:p>
          <a:p>
            <a:pPr algn="ctr">
              <a:lnSpc>
                <a:spcPts val="2800"/>
              </a:lnSpc>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These students demonstrated readiness in basic literacy, numeracy, and classroom behavior, making them eligible for formal school enrollment.</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fontAlgn="auto">
              <a:lnSpc>
                <a:spcPct val="100000"/>
              </a:lnSpc>
            </a:pPr>
            <a:endParaRPr>
              <a:latin typeface="Corbel" panose="020B0503020204020204" pitchFamily="34" charset="0"/>
              <a:cs typeface="Corbel" panose="020B0503020204020204" pitchFamily="34" charset="0"/>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Oram</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Palak</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Kamil</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Philippas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Rosemerry</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Adan</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Silvia</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Emmanuel</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39750" lvl="1" indent="-26987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Micael</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fontAlgn="auto">
              <a:lnSpc>
                <a:spcPct val="100000"/>
              </a:lnSpc>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This successful transition reflects the impact and effectiveness of the learning center in preparing students for mainstream education.</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r" fontAlgn="auto">
              <a:lnSpc>
                <a:spcPct val="100000"/>
              </a:lnSpc>
            </a:pPr>
            <a:endParaRPr>
              <a:latin typeface="Corbel" panose="020B0503020204020204" pitchFamily="34" charset="0"/>
              <a:cs typeface="Corbel" panose="020B0503020204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rot="0">
            <a:off x="334645" y="480060"/>
            <a:ext cx="4391025" cy="2470150"/>
            <a:chOff x="0" y="0"/>
            <a:chExt cx="5852160" cy="3291840"/>
          </a:xfrm>
        </p:grpSpPr>
        <p:sp>
          <p:nvSpPr>
            <p:cNvPr id="3" name="Freeform 3"/>
            <p:cNvSpPr/>
            <p:nvPr/>
          </p:nvSpPr>
          <p:spPr>
            <a:xfrm>
              <a:off x="0" y="17399"/>
              <a:ext cx="1966214" cy="3243707"/>
            </a:xfrm>
            <a:custGeom>
              <a:avLst/>
              <a:gdLst/>
              <a:ahLst/>
              <a:cxnLst/>
              <a:rect l="l" t="t" r="r" b="b"/>
              <a:pathLst>
                <a:path w="1966214" h="3243707">
                  <a:moveTo>
                    <a:pt x="0" y="0"/>
                  </a:moveTo>
                  <a:lnTo>
                    <a:pt x="1966214" y="0"/>
                  </a:lnTo>
                  <a:lnTo>
                    <a:pt x="1966214" y="3243707"/>
                  </a:lnTo>
                  <a:lnTo>
                    <a:pt x="0" y="3243707"/>
                  </a:lnTo>
                  <a:lnTo>
                    <a:pt x="0" y="0"/>
                  </a:lnTo>
                  <a:close/>
                </a:path>
              </a:pathLst>
            </a:custGeom>
            <a:blipFill>
              <a:blip r:embed="rId1"/>
              <a:stretch>
                <a:fillRect t="-3946" b="-3946"/>
              </a:stretch>
            </a:blipFill>
          </p:spPr>
        </p:sp>
        <p:sp>
          <p:nvSpPr>
            <p:cNvPr id="4" name="Freeform 4"/>
            <p:cNvSpPr/>
            <p:nvPr/>
          </p:nvSpPr>
          <p:spPr>
            <a:xfrm>
              <a:off x="1974723" y="17399"/>
              <a:ext cx="1981581" cy="3243707"/>
            </a:xfrm>
            <a:custGeom>
              <a:avLst/>
              <a:gdLst/>
              <a:ahLst/>
              <a:cxnLst/>
              <a:rect l="l" t="t" r="r" b="b"/>
              <a:pathLst>
                <a:path w="1981581" h="3243707">
                  <a:moveTo>
                    <a:pt x="1981581" y="3243707"/>
                  </a:moveTo>
                  <a:lnTo>
                    <a:pt x="0" y="3243707"/>
                  </a:lnTo>
                  <a:lnTo>
                    <a:pt x="0" y="0"/>
                  </a:lnTo>
                  <a:lnTo>
                    <a:pt x="1981581" y="0"/>
                  </a:lnTo>
                  <a:lnTo>
                    <a:pt x="1981581" y="3243707"/>
                  </a:lnTo>
                  <a:close/>
                </a:path>
              </a:pathLst>
            </a:custGeom>
            <a:blipFill>
              <a:blip r:embed="rId2"/>
              <a:stretch>
                <a:fillRect t="-4302" b="-4302"/>
              </a:stretch>
            </a:blipFill>
          </p:spPr>
        </p:sp>
        <p:sp>
          <p:nvSpPr>
            <p:cNvPr id="5" name="Freeform 5"/>
            <p:cNvSpPr/>
            <p:nvPr/>
          </p:nvSpPr>
          <p:spPr>
            <a:xfrm>
              <a:off x="3966337" y="17399"/>
              <a:ext cx="1885823" cy="3259074"/>
            </a:xfrm>
            <a:custGeom>
              <a:avLst/>
              <a:gdLst/>
              <a:ahLst/>
              <a:cxnLst/>
              <a:rect l="l" t="t" r="r" b="b"/>
              <a:pathLst>
                <a:path w="1885823" h="3259074">
                  <a:moveTo>
                    <a:pt x="1885823" y="3259074"/>
                  </a:moveTo>
                  <a:lnTo>
                    <a:pt x="0" y="3259074"/>
                  </a:lnTo>
                  <a:lnTo>
                    <a:pt x="0" y="0"/>
                  </a:lnTo>
                  <a:lnTo>
                    <a:pt x="1885823" y="0"/>
                  </a:lnTo>
                  <a:lnTo>
                    <a:pt x="1885823" y="3259074"/>
                  </a:lnTo>
                  <a:close/>
                </a:path>
              </a:pathLst>
            </a:custGeom>
            <a:blipFill>
              <a:blip r:embed="rId3"/>
              <a:stretch>
                <a:fillRect t="-1496" b="-1496"/>
              </a:stretch>
            </a:blipFill>
          </p:spPr>
        </p:sp>
        <p:sp>
          <p:nvSpPr>
            <p:cNvPr id="6" name="Freeform 6"/>
            <p:cNvSpPr/>
            <p:nvPr/>
          </p:nvSpPr>
          <p:spPr>
            <a:xfrm>
              <a:off x="0" y="0"/>
              <a:ext cx="5852160" cy="3291840"/>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4"/>
              <a:stretch>
                <a:fillRect/>
              </a:stretch>
            </a:blipFill>
          </p:spPr>
        </p:sp>
      </p:grpSp>
      <p:grpSp>
        <p:nvGrpSpPr>
          <p:cNvPr id="7" name="Group 7"/>
          <p:cNvGrpSpPr>
            <a:grpSpLocks noChangeAspect="1"/>
          </p:cNvGrpSpPr>
          <p:nvPr/>
        </p:nvGrpSpPr>
        <p:grpSpPr>
          <a:xfrm rot="0">
            <a:off x="4634230" y="3441065"/>
            <a:ext cx="4257040" cy="2394585"/>
            <a:chOff x="0" y="0"/>
            <a:chExt cx="5852160" cy="3291840"/>
          </a:xfrm>
        </p:grpSpPr>
        <p:sp>
          <p:nvSpPr>
            <p:cNvPr id="8" name="Freeform 8"/>
            <p:cNvSpPr/>
            <p:nvPr/>
          </p:nvSpPr>
          <p:spPr>
            <a:xfrm>
              <a:off x="0" y="17399"/>
              <a:ext cx="1966214" cy="3243707"/>
            </a:xfrm>
            <a:custGeom>
              <a:avLst/>
              <a:gdLst/>
              <a:ahLst/>
              <a:cxnLst/>
              <a:rect l="l" t="t" r="r" b="b"/>
              <a:pathLst>
                <a:path w="1966214" h="3243707">
                  <a:moveTo>
                    <a:pt x="0" y="0"/>
                  </a:moveTo>
                  <a:lnTo>
                    <a:pt x="1966214" y="0"/>
                  </a:lnTo>
                  <a:lnTo>
                    <a:pt x="1966214" y="3243707"/>
                  </a:lnTo>
                  <a:lnTo>
                    <a:pt x="0" y="3243707"/>
                  </a:lnTo>
                  <a:lnTo>
                    <a:pt x="0" y="0"/>
                  </a:lnTo>
                  <a:close/>
                </a:path>
              </a:pathLst>
            </a:custGeom>
            <a:blipFill>
              <a:blip r:embed="rId5"/>
              <a:stretch>
                <a:fillRect t="-3881" b="-3881"/>
              </a:stretch>
            </a:blipFill>
          </p:spPr>
        </p:sp>
        <p:sp>
          <p:nvSpPr>
            <p:cNvPr id="9" name="Freeform 9"/>
            <p:cNvSpPr/>
            <p:nvPr/>
          </p:nvSpPr>
          <p:spPr>
            <a:xfrm>
              <a:off x="1974723" y="17399"/>
              <a:ext cx="1981581" cy="3243707"/>
            </a:xfrm>
            <a:custGeom>
              <a:avLst/>
              <a:gdLst/>
              <a:ahLst/>
              <a:cxnLst/>
              <a:rect l="l" t="t" r="r" b="b"/>
              <a:pathLst>
                <a:path w="1981581" h="3243707">
                  <a:moveTo>
                    <a:pt x="1981581" y="3243707"/>
                  </a:moveTo>
                  <a:lnTo>
                    <a:pt x="0" y="3243707"/>
                  </a:lnTo>
                  <a:lnTo>
                    <a:pt x="0" y="0"/>
                  </a:lnTo>
                  <a:lnTo>
                    <a:pt x="1981581" y="0"/>
                  </a:lnTo>
                  <a:lnTo>
                    <a:pt x="1981581" y="3243707"/>
                  </a:lnTo>
                  <a:close/>
                </a:path>
              </a:pathLst>
            </a:custGeom>
            <a:blipFill>
              <a:blip r:embed="rId6"/>
              <a:stretch>
                <a:fillRect t="-4302" b="-4302"/>
              </a:stretch>
            </a:blipFill>
          </p:spPr>
        </p:sp>
        <p:sp>
          <p:nvSpPr>
            <p:cNvPr id="10" name="Freeform 10"/>
            <p:cNvSpPr/>
            <p:nvPr/>
          </p:nvSpPr>
          <p:spPr>
            <a:xfrm>
              <a:off x="3966337" y="17399"/>
              <a:ext cx="1885823" cy="3259074"/>
            </a:xfrm>
            <a:custGeom>
              <a:avLst/>
              <a:gdLst/>
              <a:ahLst/>
              <a:cxnLst/>
              <a:rect l="l" t="t" r="r" b="b"/>
              <a:pathLst>
                <a:path w="1885823" h="3259074">
                  <a:moveTo>
                    <a:pt x="1885823" y="3259074"/>
                  </a:moveTo>
                  <a:lnTo>
                    <a:pt x="0" y="3259074"/>
                  </a:lnTo>
                  <a:lnTo>
                    <a:pt x="0" y="0"/>
                  </a:lnTo>
                  <a:lnTo>
                    <a:pt x="1885823" y="0"/>
                  </a:lnTo>
                  <a:lnTo>
                    <a:pt x="1885823" y="3259074"/>
                  </a:lnTo>
                  <a:close/>
                </a:path>
              </a:pathLst>
            </a:custGeom>
            <a:blipFill>
              <a:blip r:embed="rId7"/>
              <a:stretch>
                <a:fillRect t="-1434" b="-1434"/>
              </a:stretch>
            </a:blipFill>
          </p:spPr>
        </p:sp>
        <p:sp>
          <p:nvSpPr>
            <p:cNvPr id="11" name="Freeform 11"/>
            <p:cNvSpPr/>
            <p:nvPr/>
          </p:nvSpPr>
          <p:spPr>
            <a:xfrm>
              <a:off x="0" y="0"/>
              <a:ext cx="5852160" cy="3291840"/>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4"/>
              <a:stretch>
                <a:fillRect/>
              </a:stretch>
            </a:blipFill>
          </p:spPr>
        </p:sp>
      </p:grpSp>
      <p:grpSp>
        <p:nvGrpSpPr>
          <p:cNvPr id="12" name="Group 12"/>
          <p:cNvGrpSpPr/>
          <p:nvPr/>
        </p:nvGrpSpPr>
        <p:grpSpPr>
          <a:xfrm rot="0">
            <a:off x="255905" y="3537585"/>
            <a:ext cx="4547870" cy="2933700"/>
            <a:chOff x="0" y="0"/>
            <a:chExt cx="11382244" cy="7358380"/>
          </a:xfrm>
        </p:grpSpPr>
        <p:sp>
          <p:nvSpPr>
            <p:cNvPr id="13" name="Freeform 13"/>
            <p:cNvSpPr/>
            <p:nvPr/>
          </p:nvSpPr>
          <p:spPr>
            <a:xfrm>
              <a:off x="656446" y="585470"/>
              <a:ext cx="10069351" cy="4354830"/>
            </a:xfrm>
            <a:custGeom>
              <a:avLst/>
              <a:gdLst/>
              <a:ahLst/>
              <a:cxnLst/>
              <a:rect l="l" t="t" r="r" b="b"/>
              <a:pathLst>
                <a:path w="10069351" h="4354830">
                  <a:moveTo>
                    <a:pt x="0" y="0"/>
                  </a:moveTo>
                  <a:lnTo>
                    <a:pt x="10069351" y="0"/>
                  </a:lnTo>
                  <a:lnTo>
                    <a:pt x="10069351" y="4354830"/>
                  </a:lnTo>
                  <a:lnTo>
                    <a:pt x="0" y="4354830"/>
                  </a:lnTo>
                  <a:close/>
                </a:path>
              </a:pathLst>
            </a:custGeom>
            <a:blipFill>
              <a:blip r:embed="rId8"/>
              <a:stretch>
                <a:fillRect t="-15031" b="-15031"/>
              </a:stretch>
            </a:blipFill>
          </p:spPr>
        </p:sp>
      </p:grpSp>
      <p:grpSp>
        <p:nvGrpSpPr>
          <p:cNvPr id="14" name="Group 14"/>
          <p:cNvGrpSpPr/>
          <p:nvPr/>
        </p:nvGrpSpPr>
        <p:grpSpPr>
          <a:xfrm rot="0">
            <a:off x="4836160" y="556895"/>
            <a:ext cx="4251960" cy="3255010"/>
            <a:chOff x="0" y="0"/>
            <a:chExt cx="10465253" cy="7358380"/>
          </a:xfrm>
        </p:grpSpPr>
        <p:sp>
          <p:nvSpPr>
            <p:cNvPr id="15" name="Freeform 15"/>
            <p:cNvSpPr/>
            <p:nvPr/>
          </p:nvSpPr>
          <p:spPr>
            <a:xfrm>
              <a:off x="603560" y="585470"/>
              <a:ext cx="9258132" cy="4354830"/>
            </a:xfrm>
            <a:custGeom>
              <a:avLst/>
              <a:gdLst/>
              <a:ahLst/>
              <a:cxnLst/>
              <a:rect l="l" t="t" r="r" b="b"/>
              <a:pathLst>
                <a:path w="9258132" h="4354830">
                  <a:moveTo>
                    <a:pt x="0" y="0"/>
                  </a:moveTo>
                  <a:lnTo>
                    <a:pt x="9258133" y="0"/>
                  </a:lnTo>
                  <a:lnTo>
                    <a:pt x="9258133" y="4354830"/>
                  </a:lnTo>
                  <a:lnTo>
                    <a:pt x="0" y="4354830"/>
                  </a:lnTo>
                  <a:close/>
                </a:path>
              </a:pathLst>
            </a:custGeom>
            <a:blipFill>
              <a:blip r:embed="rId9"/>
              <a:stretch>
                <a:fillRect t="-9792" b="-9792"/>
              </a:stretch>
            </a:blipFill>
          </p:spPr>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21259" y="3637915"/>
            <a:ext cx="3953510" cy="2478405"/>
            <a:chOff x="505877" y="586034"/>
            <a:chExt cx="11090117" cy="6952253"/>
          </a:xfrm>
        </p:grpSpPr>
        <p:sp>
          <p:nvSpPr>
            <p:cNvPr id="3" name="Freeform 3"/>
            <p:cNvSpPr/>
            <p:nvPr/>
          </p:nvSpPr>
          <p:spPr>
            <a:xfrm>
              <a:off x="505877" y="586034"/>
              <a:ext cx="11090117" cy="6952253"/>
            </a:xfrm>
            <a:custGeom>
              <a:avLst/>
              <a:gdLst/>
              <a:ahLst/>
              <a:cxnLst/>
              <a:rect l="l" t="t" r="r" b="b"/>
              <a:pathLst>
                <a:path w="7753350" h="4354830">
                  <a:moveTo>
                    <a:pt x="0" y="0"/>
                  </a:moveTo>
                  <a:lnTo>
                    <a:pt x="7753350" y="0"/>
                  </a:lnTo>
                  <a:lnTo>
                    <a:pt x="7753350" y="4354830"/>
                  </a:lnTo>
                  <a:lnTo>
                    <a:pt x="0" y="4354830"/>
                  </a:lnTo>
                  <a:close/>
                </a:path>
              </a:pathLst>
            </a:custGeom>
            <a:blipFill>
              <a:blip r:embed="rId1"/>
              <a:stretch>
                <a:fillRect l="-10885" r="-10885"/>
              </a:stretch>
            </a:blipFill>
          </p:spPr>
        </p:sp>
      </p:grpSp>
      <p:grpSp>
        <p:nvGrpSpPr>
          <p:cNvPr id="4" name="Group 4"/>
          <p:cNvGrpSpPr/>
          <p:nvPr/>
        </p:nvGrpSpPr>
        <p:grpSpPr>
          <a:xfrm rot="0">
            <a:off x="4815034" y="3637915"/>
            <a:ext cx="3895090" cy="2550795"/>
            <a:chOff x="-1936230" y="586034"/>
            <a:chExt cx="10926241" cy="7155316"/>
          </a:xfrm>
        </p:grpSpPr>
        <p:sp>
          <p:nvSpPr>
            <p:cNvPr id="5" name="Freeform 5"/>
            <p:cNvSpPr/>
            <p:nvPr/>
          </p:nvSpPr>
          <p:spPr>
            <a:xfrm>
              <a:off x="-1936230" y="586034"/>
              <a:ext cx="10926241" cy="7155316"/>
            </a:xfrm>
            <a:custGeom>
              <a:avLst/>
              <a:gdLst/>
              <a:ahLst/>
              <a:cxnLst/>
              <a:rect l="l" t="t" r="r" b="b"/>
              <a:pathLst>
                <a:path w="7753350" h="4354830">
                  <a:moveTo>
                    <a:pt x="0" y="0"/>
                  </a:moveTo>
                  <a:lnTo>
                    <a:pt x="7753350" y="0"/>
                  </a:lnTo>
                  <a:lnTo>
                    <a:pt x="7753350" y="4354830"/>
                  </a:lnTo>
                  <a:lnTo>
                    <a:pt x="0" y="4354830"/>
                  </a:lnTo>
                  <a:close/>
                </a:path>
              </a:pathLst>
            </a:custGeom>
            <a:blipFill>
              <a:blip r:embed="rId2"/>
              <a:stretch>
                <a:fillRect l="-10885" r="-10885"/>
              </a:stretch>
            </a:blipFill>
          </p:spPr>
          <p:txBody>
            <a:bodyPr/>
            <a:p>
              <a:endParaRPr lang="en-US"/>
            </a:p>
          </p:txBody>
        </p:sp>
      </p:grpSp>
      <p:sp>
        <p:nvSpPr>
          <p:cNvPr id="6" name="TextBox 6"/>
          <p:cNvSpPr txBox="1"/>
          <p:nvPr/>
        </p:nvSpPr>
        <p:spPr>
          <a:xfrm>
            <a:off x="426720" y="542290"/>
            <a:ext cx="8259445" cy="3525520"/>
          </a:xfrm>
          <a:prstGeom prst="rect">
            <a:avLst/>
          </a:prstGeom>
        </p:spPr>
        <p:txBody>
          <a:bodyPr lIns="0" tIns="0" rIns="0" bIns="0" rtlCol="0" anchor="t">
            <a:noAutofit/>
          </a:bodyPr>
          <a:lstStyle/>
          <a:p>
            <a:pPr indent="0" algn="ctr" fontAlgn="auto">
              <a:lnSpc>
                <a:spcPct val="10000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3-Days Teachers Training on Joyful Learning &amp; Adult Literacy Teaching Methodologies</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indent="0" algn="ctr" fontAlgn="auto">
              <a:lnSpc>
                <a:spcPct val="10000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Date: 14th–16th May 2025</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indent="0" algn="ctr" fontAlgn="auto">
              <a:lnSpc>
                <a:spcPct val="10000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Venue: ABES Hall</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7250" y="210185"/>
            <a:ext cx="7406640" cy="1051560"/>
          </a:xfrm>
        </p:spPr>
        <p:txBody>
          <a:bodyPr/>
          <a:p>
            <a:pPr algn="ct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Introduction of Training</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2" name="TextBox 2"/>
          <p:cNvSpPr txBox="1"/>
          <p:nvPr/>
        </p:nvSpPr>
        <p:spPr>
          <a:xfrm>
            <a:off x="380365" y="1261745"/>
            <a:ext cx="8352155" cy="5433060"/>
          </a:xfrm>
          <a:prstGeom prst="rect">
            <a:avLst/>
          </a:prstGeom>
        </p:spPr>
        <p:txBody>
          <a:bodyPr lIns="0" tIns="0" rIns="0" bIns="0" rtlCol="0" anchor="t">
            <a:noAutofit/>
          </a:bodyPr>
          <a:lstStyle/>
          <a:p>
            <a:pPr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3-day training organized to enhance teaching for out-of-school children and illiterate adults.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fontAlgn="auto">
              <a:lnSpc>
                <a:spcPct val="100000"/>
              </a:lnSpc>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036320" lvl="1" indent="-51816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Focused on Adult Literacy &amp; Joyful Learning methodologies.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036320" lvl="1" indent="-518160" algn="l" fontAlgn="auto">
              <a:lnSpc>
                <a:spcPct val="100000"/>
              </a:lnSpc>
              <a:buFont typeface="Arial" panose="020B0604020202020204"/>
              <a:buChar char="•"/>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036320" lvl="1" indent="-51816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4 active participants (2 teachers + 2 community members).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18160" lvl="1" indent="0" algn="l" fontAlgn="auto">
              <a:lnSpc>
                <a:spcPct val="100000"/>
              </a:lnSpc>
              <a:buFont typeface="Arial" panose="020B0604020202020204"/>
              <a:buNone/>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036320" lvl="1" indent="-51816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Hands-on tools: flashcards, pocket boards, workbooks, and creative learning activities.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fontAlgn="auto">
              <a:lnSpc>
                <a:spcPct val="100000"/>
              </a:lnSpc>
            </a:pPr>
            <a:r>
              <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 </a:t>
            </a:r>
            <a:endPar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7250" y="210185"/>
            <a:ext cx="7406640" cy="1051560"/>
          </a:xfrm>
        </p:spPr>
        <p:txBody>
          <a:bodyPr/>
          <a:p>
            <a:pPr algn="ct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Training Objectives</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2" name="TextBox 2"/>
          <p:cNvSpPr txBox="1"/>
          <p:nvPr/>
        </p:nvSpPr>
        <p:spPr>
          <a:xfrm>
            <a:off x="380365" y="1261745"/>
            <a:ext cx="8352155" cy="5433060"/>
          </a:xfrm>
          <a:prstGeom prst="rect">
            <a:avLst/>
          </a:prstGeom>
        </p:spPr>
        <p:txBody>
          <a:bodyPr lIns="0" tIns="0" rIns="0" bIns="0" rtlCol="0" anchor="t">
            <a:noAutofit/>
          </a:bodyPr>
          <a:lstStyle/>
          <a:p>
            <a:pPr marL="1122680" lvl="1" indent="-56134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Enhance teaching skills.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61340" lvl="1" indent="0" algn="l" fontAlgn="auto">
              <a:lnSpc>
                <a:spcPct val="100000"/>
              </a:lnSpc>
              <a:buFont typeface="Arial" panose="020B0604020202020204"/>
              <a:buNone/>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122680" lvl="1" indent="-56134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Apply learning aids in classrooms.</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61340" lvl="1" indent="0" algn="l" fontAlgn="auto">
              <a:lnSpc>
                <a:spcPct val="100000"/>
              </a:lnSpc>
              <a:buFont typeface="Arial" panose="020B0604020202020204"/>
              <a:buNone/>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122680" lvl="1" indent="-56134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Understand children’s psychology.</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561340" lvl="1" indent="0" algn="l" fontAlgn="auto">
              <a:lnSpc>
                <a:spcPct val="100000"/>
              </a:lnSpc>
              <a:buFont typeface="Arial" panose="020B0604020202020204"/>
              <a:buNone/>
            </a:pP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1122680" lvl="1" indent="-561340" algn="l" fontAlgn="auto">
              <a:lnSpc>
                <a:spcPct val="100000"/>
              </a:lnSpc>
              <a:buFont typeface="Arial" panose="020B0604020202020204"/>
              <a:buChar char="•"/>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Promote creative and effective teaching methods</a:t>
            </a:r>
            <a:r>
              <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a:t>
            </a:r>
            <a:endPar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algn="ctr" fontAlgn="auto">
              <a:lnSpc>
                <a:spcPct val="100000"/>
              </a:lnSpc>
            </a:pPr>
            <a:r>
              <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 </a:t>
            </a:r>
            <a:endPar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93027" y="338138"/>
            <a:ext cx="3443939" cy="933450"/>
          </a:xfrm>
          <a:prstGeom prst="rect">
            <a:avLst/>
          </a:prstGeom>
        </p:spPr>
        <p:txBody>
          <a:bodyPr lIns="0" tIns="0" rIns="0" bIns="0" rtlCol="0" anchor="t">
            <a:spAutoFit/>
          </a:bodyPr>
          <a:lstStyle/>
          <a:p>
            <a:pPr algn="ctr">
              <a:lnSpc>
                <a:spcPts val="728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Day 1 of Training  </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3" name="TextBox 3"/>
          <p:cNvSpPr txBox="1"/>
          <p:nvPr/>
        </p:nvSpPr>
        <p:spPr>
          <a:xfrm>
            <a:off x="286779" y="2177440"/>
            <a:ext cx="2873202" cy="3426460"/>
          </a:xfrm>
          <a:prstGeom prst="rect">
            <a:avLst/>
          </a:prstGeom>
        </p:spPr>
        <p:txBody>
          <a:bodyPr lIns="0" tIns="0" rIns="0" bIns="0" rtlCol="0" anchor="t">
            <a:spAutoFit/>
          </a:bodyPr>
          <a:lstStyle/>
          <a:p>
            <a:pPr algn="just" fontAlgn="auto">
              <a:lnSpc>
                <a:spcPct val="100000"/>
              </a:lnSpc>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Overview</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604520" lvl="1" indent="-302260" algn="just"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Opening Prayer &amp; Introductions</a:t>
            </a: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604520" lvl="1" indent="-302260" algn="just" fontAlgn="auto">
              <a:lnSpc>
                <a:spcPct val="100000"/>
              </a:lnSpc>
              <a:buFont typeface="Arial" panose="020B0604020202020204"/>
              <a:buChar char="•"/>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Sessions:</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1209040" lvl="2" indent="-403225" algn="just" fontAlgn="auto">
              <a:lnSpc>
                <a:spcPct val="100000"/>
              </a:lnSpc>
              <a:buFont typeface="Arial" panose="020B0604020202020204"/>
              <a:buChar char="⚬"/>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Social Mobilization</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1209040" lvl="2" indent="-403225" algn="l" fontAlgn="auto">
              <a:lnSpc>
                <a:spcPct val="100000"/>
              </a:lnSpc>
              <a:buFont typeface="Arial" panose="020B0604020202020204"/>
              <a:buChar char="⚬"/>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Adult Literacy (Intro + Eclectic Method)</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algn="just">
              <a:lnSpc>
                <a:spcPts val="7280"/>
              </a:lnSpc>
            </a:pPr>
            <a:endParaRPr>
              <a:latin typeface="Corbel" panose="020B0503020204020204" pitchFamily="34" charset="0"/>
              <a:cs typeface="Corbel" panose="020B0503020204020204" pitchFamily="34" charset="0"/>
            </a:endParaRPr>
          </a:p>
        </p:txBody>
      </p:sp>
      <p:sp>
        <p:nvSpPr>
          <p:cNvPr id="4" name="TextBox 4"/>
          <p:cNvSpPr txBox="1"/>
          <p:nvPr/>
        </p:nvSpPr>
        <p:spPr>
          <a:xfrm>
            <a:off x="3227290" y="2189188"/>
            <a:ext cx="2873202" cy="4380230"/>
          </a:xfrm>
          <a:prstGeom prst="rect">
            <a:avLst/>
          </a:prstGeom>
        </p:spPr>
        <p:txBody>
          <a:bodyPr lIns="0" tIns="0" rIns="0" bIns="0" rtlCol="0" anchor="t">
            <a:spAutoFit/>
          </a:bodyPr>
          <a:lstStyle/>
          <a:p>
            <a:pPr algn="l" fontAlgn="auto">
              <a:lnSpc>
                <a:spcPct val="100000"/>
              </a:lnSpc>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Social Mobilization</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Purpose &amp; function in communities.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Strategies: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Work with local leaders &amp; influencers.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Engage parents &amp; community members.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Promote benefits of education.</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Real-life examples &amp; group activity for better understanding.</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l" fontAlgn="auto">
              <a:lnSpc>
                <a:spcPct val="100000"/>
              </a:lnSpc>
            </a:pPr>
            <a:endParaRPr>
              <a:latin typeface="Corbel" panose="020B0503020204020204" pitchFamily="34" charset="0"/>
              <a:cs typeface="Corbel" panose="020B0503020204020204" pitchFamily="34" charset="0"/>
            </a:endParaRPr>
          </a:p>
          <a:p>
            <a:pPr algn="l">
              <a:lnSpc>
                <a:spcPts val="3920"/>
              </a:lnSpc>
            </a:pPr>
            <a:endParaRPr>
              <a:latin typeface="Corbel" panose="020B0503020204020204" pitchFamily="34" charset="0"/>
              <a:cs typeface="Corbel" panose="020B0503020204020204" pitchFamily="34" charset="0"/>
            </a:endParaRPr>
          </a:p>
        </p:txBody>
      </p:sp>
      <p:sp>
        <p:nvSpPr>
          <p:cNvPr id="5" name="TextBox 5"/>
          <p:cNvSpPr txBox="1"/>
          <p:nvPr/>
        </p:nvSpPr>
        <p:spPr>
          <a:xfrm>
            <a:off x="6100492" y="2189188"/>
            <a:ext cx="2873202" cy="5211445"/>
          </a:xfrm>
          <a:prstGeom prst="rect">
            <a:avLst/>
          </a:prstGeom>
        </p:spPr>
        <p:txBody>
          <a:bodyPr lIns="0" tIns="0" rIns="0" bIns="0" rtlCol="0" anchor="t">
            <a:spAutoFit/>
          </a:bodyPr>
          <a:lstStyle/>
          <a:p>
            <a:pPr algn="ctr" fontAlgn="auto">
              <a:lnSpc>
                <a:spcPct val="100000"/>
              </a:lnSpc>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Adult Literacy</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Challenges of adult learners.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Eclectic Method (as shown by Sir David):</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Pictorial lessons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Division of syllables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Homophones &amp; signs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Tools used:</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Zindagi Qaida</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604520" lvl="1" indent="-302260"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Teaching aids: flashcards, Urdu/English/Math workbooks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fontAlgn="auto">
              <a:lnSpc>
                <a:spcPct val="100000"/>
              </a:lnSpc>
            </a:pPr>
            <a:endParaRPr>
              <a:latin typeface="Corbel" panose="020B0503020204020204" pitchFamily="34" charset="0"/>
              <a:cs typeface="Corbel" panose="020B0503020204020204" pitchFamily="34" charset="0"/>
            </a:endParaRPr>
          </a:p>
          <a:p>
            <a:pPr algn="l" fontAlgn="auto">
              <a:lnSpc>
                <a:spcPct val="100000"/>
              </a:lnSpc>
            </a:pPr>
            <a:endParaRPr>
              <a:latin typeface="Corbel" panose="020B0503020204020204" pitchFamily="34" charset="0"/>
              <a:cs typeface="Corbel" panose="020B0503020204020204" pitchFamily="34" charset="0"/>
            </a:endParaRPr>
          </a:p>
          <a:p>
            <a:pPr algn="ctr" fontAlgn="auto">
              <a:lnSpc>
                <a:spcPct val="100000"/>
              </a:lnSpc>
            </a:pPr>
            <a:endParaRPr>
              <a:latin typeface="Corbel" panose="020B0503020204020204" pitchFamily="34" charset="0"/>
              <a:cs typeface="Corbel" panose="020B0503020204020204" pitchFamily="34" charset="0"/>
            </a:endParaRPr>
          </a:p>
          <a:p>
            <a:pPr algn="ctr">
              <a:lnSpc>
                <a:spcPts val="3920"/>
              </a:lnSpc>
            </a:pPr>
            <a:endParaRPr>
              <a:latin typeface="Corbel" panose="020B0503020204020204" pitchFamily="34" charset="0"/>
              <a:cs typeface="Corbel" panose="020B0503020204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9785" y="387350"/>
            <a:ext cx="7362190" cy="695960"/>
          </a:xfrm>
          <a:prstGeom prst="rect">
            <a:avLst/>
          </a:prstGeom>
        </p:spPr>
        <p:txBody>
          <a:bodyPr wrap="square" lIns="0" tIns="0" rIns="0" bIns="0" rtlCol="0" anchor="t">
            <a:noAutofit/>
          </a:bodyPr>
          <a:lstStyle/>
          <a:p>
            <a:pPr algn="ctr">
              <a:lnSpc>
                <a:spcPts val="728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Day 2  of Training</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3" name="TextBox 3"/>
          <p:cNvSpPr txBox="1"/>
          <p:nvPr/>
        </p:nvSpPr>
        <p:spPr>
          <a:xfrm>
            <a:off x="514350" y="1696085"/>
            <a:ext cx="2873202" cy="4542155"/>
          </a:xfrm>
          <a:prstGeom prst="rect">
            <a:avLst/>
          </a:prstGeom>
        </p:spPr>
        <p:txBody>
          <a:bodyPr lIns="0" tIns="0" rIns="0" bIns="0" rtlCol="0" anchor="t">
            <a:spAutoFit/>
          </a:bodyPr>
          <a:lstStyle/>
          <a:p>
            <a:pPr algn="l" fontAlgn="auto">
              <a:lnSpc>
                <a:spcPct val="100000"/>
              </a:lnSpc>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Teaching Aids</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Continued Eclectic Method training:</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Sounds, syllables, word beginnings.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Introduction to:</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Teaching Kit contents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National Curriculum-based workbooks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Hands-on practice with phonetic drills, creative exercises.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l" fontAlgn="auto">
              <a:lnSpc>
                <a:spcPct val="100000"/>
              </a:lnSpc>
            </a:pPr>
            <a:endParaRPr>
              <a:latin typeface="Corbel" panose="020B0503020204020204" pitchFamily="34" charset="0"/>
              <a:cs typeface="Corbel" panose="020B0503020204020204" pitchFamily="34" charset="0"/>
            </a:endParaRPr>
          </a:p>
          <a:p>
            <a:pPr algn="l" fontAlgn="auto">
              <a:lnSpc>
                <a:spcPct val="100000"/>
              </a:lnSpc>
            </a:pPr>
            <a:endParaRPr>
              <a:latin typeface="Corbel" panose="020B0503020204020204" pitchFamily="34" charset="0"/>
              <a:cs typeface="Corbel" panose="020B0503020204020204" pitchFamily="34" charset="0"/>
            </a:endParaRPr>
          </a:p>
          <a:p>
            <a:pPr algn="l">
              <a:lnSpc>
                <a:spcPts val="5180"/>
              </a:lnSpc>
            </a:pPr>
            <a:endParaRPr>
              <a:latin typeface="Corbel" panose="020B0503020204020204" pitchFamily="34" charset="0"/>
              <a:cs typeface="Corbel" panose="020B0503020204020204" pitchFamily="34" charset="0"/>
            </a:endParaRPr>
          </a:p>
        </p:txBody>
      </p:sp>
      <p:sp>
        <p:nvSpPr>
          <p:cNvPr id="4" name="TextBox 4"/>
          <p:cNvSpPr txBox="1"/>
          <p:nvPr/>
        </p:nvSpPr>
        <p:spPr>
          <a:xfrm>
            <a:off x="5202621" y="1831307"/>
            <a:ext cx="3248165" cy="3157220"/>
          </a:xfrm>
          <a:prstGeom prst="rect">
            <a:avLst/>
          </a:prstGeom>
        </p:spPr>
        <p:txBody>
          <a:bodyPr lIns="0" tIns="0" rIns="0" bIns="0" rtlCol="0" anchor="t">
            <a:spAutoFit/>
          </a:bodyPr>
          <a:lstStyle/>
          <a:p>
            <a:pPr algn="ctr" fontAlgn="auto">
              <a:lnSpc>
                <a:spcPct val="100000"/>
              </a:lnSpc>
            </a:pPr>
            <a:r>
              <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 Interactive Methods</a:t>
            </a:r>
            <a:endParaRPr lang="en-US"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Poem recitations.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Group discussion and reflections.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Focus on:</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Letter-sound recognition.</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Literacy skills.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marL="798830" lvl="1" indent="-399415" algn="l" fontAlgn="auto">
              <a:lnSpc>
                <a:spcPct val="100000"/>
              </a:lnSpc>
              <a:buFont typeface="Arial" panose="020B0604020202020204"/>
              <a:buChar char="•"/>
            </a:pPr>
            <a:r>
              <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Replication in real-life settings.</a:t>
            </a:r>
            <a:endParaRPr lang="en-US">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l">
              <a:lnSpc>
                <a:spcPts val="5180"/>
              </a:lnSpc>
            </a:pPr>
            <a:endParaRPr>
              <a:latin typeface="Corbel" panose="020B0503020204020204" pitchFamily="34" charset="0"/>
              <a:cs typeface="Corbel" panose="020B0503020204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5065" y="338455"/>
            <a:ext cx="6831330" cy="933450"/>
          </a:xfrm>
          <a:prstGeom prst="rect">
            <a:avLst/>
          </a:prstGeom>
        </p:spPr>
        <p:txBody>
          <a:bodyPr wrap="square" lIns="0" tIns="0" rIns="0" bIns="0" rtlCol="0" anchor="t">
            <a:spAutoFit/>
          </a:bodyPr>
          <a:lstStyle/>
          <a:p>
            <a:pPr algn="ctr">
              <a:lnSpc>
                <a:spcPts val="7280"/>
              </a:lnSpc>
            </a:pPr>
            <a:r>
              <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Day 3  of Training</a:t>
            </a:r>
            <a:endParaRPr lang="en-US" sz="36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
        <p:nvSpPr>
          <p:cNvPr id="3" name="TextBox 3"/>
          <p:cNvSpPr txBox="1"/>
          <p:nvPr/>
        </p:nvSpPr>
        <p:spPr>
          <a:xfrm>
            <a:off x="514350" y="1696085"/>
            <a:ext cx="2873202" cy="3787775"/>
          </a:xfrm>
          <a:prstGeom prst="rect">
            <a:avLst/>
          </a:prstGeom>
        </p:spPr>
        <p:txBody>
          <a:bodyPr lIns="0" tIns="0" rIns="0" bIns="0" rtlCol="0" anchor="t">
            <a:spAutoFit/>
          </a:bodyPr>
          <a:lstStyle/>
          <a:p>
            <a:pPr algn="l" fontAlgn="auto">
              <a:lnSpc>
                <a:spcPct val="100000"/>
              </a:lnSpc>
            </a:pPr>
            <a:r>
              <a:rPr lang="en-US" sz="18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Psychosocial Support</a:t>
            </a:r>
            <a:endParaRPr lang="en-US" sz="18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Meditation &amp; deep breathing techniques.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Understanding children’s emotional needs.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Signs of psychological distress.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Creating supportive environments.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fontAlgn="auto">
              <a:lnSpc>
                <a:spcPct val="100000"/>
              </a:lnSpc>
            </a:pPr>
            <a:endParaRPr sz="900"/>
          </a:p>
          <a:p>
            <a:pPr algn="l" fontAlgn="auto">
              <a:lnSpc>
                <a:spcPct val="100000"/>
              </a:lnSpc>
            </a:pPr>
            <a:endParaRPr sz="900"/>
          </a:p>
          <a:p>
            <a:pPr algn="l">
              <a:lnSpc>
                <a:spcPts val="5180"/>
              </a:lnSpc>
            </a:pPr>
            <a:endParaRPr sz="900"/>
          </a:p>
        </p:txBody>
      </p:sp>
      <p:sp>
        <p:nvSpPr>
          <p:cNvPr id="4" name="TextBox 4"/>
          <p:cNvSpPr txBox="1"/>
          <p:nvPr/>
        </p:nvSpPr>
        <p:spPr>
          <a:xfrm>
            <a:off x="5202621" y="1831307"/>
            <a:ext cx="3248165" cy="3649345"/>
          </a:xfrm>
          <a:prstGeom prst="rect">
            <a:avLst/>
          </a:prstGeom>
        </p:spPr>
        <p:txBody>
          <a:bodyPr lIns="0" tIns="0" rIns="0" bIns="0" rtlCol="0" anchor="t">
            <a:spAutoFit/>
          </a:bodyPr>
          <a:lstStyle/>
          <a:p>
            <a:pPr algn="ctr" fontAlgn="auto">
              <a:lnSpc>
                <a:spcPct val="100000"/>
              </a:lnSpc>
            </a:pPr>
            <a:r>
              <a:rPr lang="en-US" sz="18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Group Activities</a:t>
            </a:r>
            <a:endParaRPr lang="en-US" sz="185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Coloring Activity:</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Encourages creativity, reduces stress.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Math Activity:</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Real-world examples of addition &amp; subtraction.</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98830" lvl="1" indent="-399415" algn="l" fontAlgn="auto">
              <a:lnSpc>
                <a:spcPct val="100000"/>
              </a:lnSpc>
              <a:buFont typeface="Arial" panose="020B0604020202020204"/>
              <a:buChar char="•"/>
            </a:pPr>
            <a:r>
              <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rPr>
              <a:t>Hands-on activities: using puzzles, charts, pocket boards.</a:t>
            </a:r>
            <a:endParaRPr lang="en-US" sz="18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fontAlgn="auto">
              <a:lnSpc>
                <a:spcPct val="100000"/>
              </a:lnSpc>
            </a:pPr>
            <a:endParaRPr sz="900"/>
          </a:p>
          <a:p>
            <a:pPr algn="l">
              <a:lnSpc>
                <a:spcPts val="5180"/>
              </a:lnSpc>
            </a:pPr>
            <a:endParaRPr sz="9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rot="0">
            <a:off x="1612900" y="2470150"/>
            <a:ext cx="5983605" cy="3365500"/>
            <a:chOff x="0" y="0"/>
            <a:chExt cx="5852160" cy="3291840"/>
          </a:xfrm>
        </p:grpSpPr>
        <p:sp>
          <p:nvSpPr>
            <p:cNvPr id="3" name="Freeform 3"/>
            <p:cNvSpPr/>
            <p:nvPr/>
          </p:nvSpPr>
          <p:spPr>
            <a:xfrm>
              <a:off x="0" y="17399"/>
              <a:ext cx="1966214" cy="3243707"/>
            </a:xfrm>
            <a:custGeom>
              <a:avLst/>
              <a:gdLst/>
              <a:ahLst/>
              <a:cxnLst/>
              <a:rect l="l" t="t" r="r" b="b"/>
              <a:pathLst>
                <a:path w="1966214" h="3243707">
                  <a:moveTo>
                    <a:pt x="0" y="0"/>
                  </a:moveTo>
                  <a:lnTo>
                    <a:pt x="1966214" y="0"/>
                  </a:lnTo>
                  <a:lnTo>
                    <a:pt x="1966214" y="3243707"/>
                  </a:lnTo>
                  <a:lnTo>
                    <a:pt x="0" y="3243707"/>
                  </a:lnTo>
                  <a:lnTo>
                    <a:pt x="0" y="0"/>
                  </a:lnTo>
                  <a:close/>
                </a:path>
              </a:pathLst>
            </a:custGeom>
            <a:blipFill>
              <a:blip r:embed="rId1"/>
              <a:stretch>
                <a:fillRect l="-11789" r="-11789"/>
              </a:stretch>
            </a:blipFill>
          </p:spPr>
        </p:sp>
        <p:sp>
          <p:nvSpPr>
            <p:cNvPr id="4" name="Freeform 4"/>
            <p:cNvSpPr/>
            <p:nvPr/>
          </p:nvSpPr>
          <p:spPr>
            <a:xfrm>
              <a:off x="1974723" y="17399"/>
              <a:ext cx="1981581" cy="3243707"/>
            </a:xfrm>
            <a:custGeom>
              <a:avLst/>
              <a:gdLst/>
              <a:ahLst/>
              <a:cxnLst/>
              <a:rect l="l" t="t" r="r" b="b"/>
              <a:pathLst>
                <a:path w="1981581" h="3243707">
                  <a:moveTo>
                    <a:pt x="1981581" y="3243707"/>
                  </a:moveTo>
                  <a:lnTo>
                    <a:pt x="0" y="3243707"/>
                  </a:lnTo>
                  <a:lnTo>
                    <a:pt x="0" y="0"/>
                  </a:lnTo>
                  <a:lnTo>
                    <a:pt x="1981581" y="0"/>
                  </a:lnTo>
                  <a:lnTo>
                    <a:pt x="1981581" y="3243707"/>
                  </a:lnTo>
                  <a:close/>
                </a:path>
              </a:pathLst>
            </a:custGeom>
            <a:blipFill>
              <a:blip r:embed="rId2"/>
              <a:stretch>
                <a:fillRect t="-4226" b="-4226"/>
              </a:stretch>
            </a:blipFill>
          </p:spPr>
        </p:sp>
        <p:sp>
          <p:nvSpPr>
            <p:cNvPr id="5" name="Freeform 5"/>
            <p:cNvSpPr/>
            <p:nvPr/>
          </p:nvSpPr>
          <p:spPr>
            <a:xfrm>
              <a:off x="3966337" y="17399"/>
              <a:ext cx="1885823" cy="3259074"/>
            </a:xfrm>
            <a:custGeom>
              <a:avLst/>
              <a:gdLst/>
              <a:ahLst/>
              <a:cxnLst/>
              <a:rect l="l" t="t" r="r" b="b"/>
              <a:pathLst>
                <a:path w="1885823" h="3259074">
                  <a:moveTo>
                    <a:pt x="1885823" y="3259074"/>
                  </a:moveTo>
                  <a:lnTo>
                    <a:pt x="0" y="3259074"/>
                  </a:lnTo>
                  <a:lnTo>
                    <a:pt x="0" y="0"/>
                  </a:lnTo>
                  <a:lnTo>
                    <a:pt x="1885823" y="0"/>
                  </a:lnTo>
                  <a:lnTo>
                    <a:pt x="1885823" y="3259074"/>
                  </a:lnTo>
                  <a:close/>
                </a:path>
              </a:pathLst>
            </a:custGeom>
            <a:blipFill>
              <a:blip r:embed="rId3"/>
              <a:stretch>
                <a:fillRect t="-12724" b="-12724"/>
              </a:stretch>
            </a:blipFill>
          </p:spPr>
        </p:sp>
        <p:sp>
          <p:nvSpPr>
            <p:cNvPr id="6" name="Freeform 6"/>
            <p:cNvSpPr/>
            <p:nvPr/>
          </p:nvSpPr>
          <p:spPr>
            <a:xfrm>
              <a:off x="0" y="0"/>
              <a:ext cx="5852160" cy="3291840"/>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4"/>
              <a:stretch>
                <a:fillRect/>
              </a:stretch>
            </a:blipFill>
          </p:spPr>
        </p:sp>
      </p:grpSp>
      <p:sp>
        <p:nvSpPr>
          <p:cNvPr id="7" name="TextBox 7"/>
          <p:cNvSpPr txBox="1"/>
          <p:nvPr/>
        </p:nvSpPr>
        <p:spPr>
          <a:xfrm>
            <a:off x="2283460" y="390525"/>
            <a:ext cx="5645150" cy="933450"/>
          </a:xfrm>
          <a:prstGeom prst="rect">
            <a:avLst/>
          </a:prstGeom>
        </p:spPr>
        <p:txBody>
          <a:bodyPr wrap="square" lIns="0" tIns="0" rIns="0" bIns="0" rtlCol="0" anchor="t">
            <a:spAutoFit/>
          </a:bodyPr>
          <a:lstStyle/>
          <a:p>
            <a:pPr algn="ctr">
              <a:lnSpc>
                <a:spcPts val="7280"/>
              </a:lnSpc>
            </a:pPr>
            <a:r>
              <a:rPr lang="en-US" sz="3600" b="1">
                <a:solidFill>
                  <a:srgbClr val="000000"/>
                </a:solidFill>
                <a:latin typeface="Corbel" panose="020B0503020204020204" pitchFamily="34" charset="0"/>
                <a:ea typeface="Canva Sans Bold" panose="020B0803030501040103"/>
                <a:cs typeface="Corbel" panose="020B0503020204020204" pitchFamily="34" charset="0"/>
                <a:sym typeface="Canva Sans Bold" panose="020B0803030501040103"/>
              </a:rPr>
              <a:t>Joyful Learning Approach</a:t>
            </a:r>
            <a:endParaRPr lang="en-US" sz="3600" b="1">
              <a:solidFill>
                <a:srgbClr val="000000"/>
              </a:solidFill>
              <a:latin typeface="Corbel" panose="020B0503020204020204" pitchFamily="34" charset="0"/>
              <a:ea typeface="Canva Sans Bold" panose="020B0803030501040103"/>
              <a:cs typeface="Corbel" panose="020B0503020204020204" pitchFamily="34" charset="0"/>
              <a:sym typeface="Canva Sans Bold" panose="020B0803030501040103"/>
            </a:endParaRPr>
          </a:p>
        </p:txBody>
      </p:sp>
      <p:sp>
        <p:nvSpPr>
          <p:cNvPr id="8" name="TextBox 8"/>
          <p:cNvSpPr txBox="1"/>
          <p:nvPr/>
        </p:nvSpPr>
        <p:spPr>
          <a:xfrm>
            <a:off x="975360" y="1501140"/>
            <a:ext cx="7649845" cy="717550"/>
          </a:xfrm>
          <a:prstGeom prst="rect">
            <a:avLst/>
          </a:prstGeom>
        </p:spPr>
        <p:txBody>
          <a:bodyPr wrap="square" lIns="0" tIns="0" rIns="0" bIns="0" rtlCol="0" anchor="t">
            <a:spAutoFit/>
          </a:bodyPr>
          <a:lstStyle/>
          <a:p>
            <a:pPr algn="ctr">
              <a:lnSpc>
                <a:spcPts val="5600"/>
              </a:lnSpc>
              <a:spcBef>
                <a:spcPct val="0"/>
              </a:spcBef>
            </a:pPr>
            <a:r>
              <a:rPr lang="en-US" sz="20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Learning should be fun &amp; meaningful.</a:t>
            </a:r>
            <a:endParaRPr lang="en-US" sz="20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882005" y="1470025"/>
            <a:ext cx="2849880" cy="2226310"/>
            <a:chOff x="0" y="0"/>
            <a:chExt cx="812800" cy="464618"/>
          </a:xfrm>
        </p:grpSpPr>
        <p:sp>
          <p:nvSpPr>
            <p:cNvPr id="3" name="Freeform 3"/>
            <p:cNvSpPr/>
            <p:nvPr/>
          </p:nvSpPr>
          <p:spPr>
            <a:xfrm>
              <a:off x="0" y="0"/>
              <a:ext cx="812800" cy="464618"/>
            </a:xfrm>
            <a:custGeom>
              <a:avLst/>
              <a:gdLst/>
              <a:ahLst/>
              <a:cxnLst/>
              <a:rect l="l" t="t" r="r" b="b"/>
              <a:pathLst>
                <a:path w="812800" h="464618">
                  <a:moveTo>
                    <a:pt x="33940" y="0"/>
                  </a:moveTo>
                  <a:lnTo>
                    <a:pt x="778860" y="0"/>
                  </a:lnTo>
                  <a:cubicBezTo>
                    <a:pt x="797604" y="0"/>
                    <a:pt x="812800" y="15196"/>
                    <a:pt x="812800" y="33940"/>
                  </a:cubicBezTo>
                  <a:lnTo>
                    <a:pt x="812800" y="430678"/>
                  </a:lnTo>
                  <a:cubicBezTo>
                    <a:pt x="812800" y="449423"/>
                    <a:pt x="797604" y="464618"/>
                    <a:pt x="778860" y="464618"/>
                  </a:cubicBezTo>
                  <a:lnTo>
                    <a:pt x="33940" y="464618"/>
                  </a:lnTo>
                  <a:cubicBezTo>
                    <a:pt x="15196" y="464618"/>
                    <a:pt x="0" y="449423"/>
                    <a:pt x="0" y="430678"/>
                  </a:cubicBezTo>
                  <a:lnTo>
                    <a:pt x="0" y="33940"/>
                  </a:lnTo>
                  <a:cubicBezTo>
                    <a:pt x="0" y="15196"/>
                    <a:pt x="15196" y="0"/>
                    <a:pt x="33940" y="0"/>
                  </a:cubicBezTo>
                  <a:close/>
                </a:path>
              </a:pathLst>
            </a:custGeom>
            <a:blipFill>
              <a:blip r:embed="rId1"/>
              <a:stretch>
                <a:fillRect t="-299" b="-30745"/>
              </a:stretch>
            </a:blipFill>
            <a:ln w="66675" cap="rnd">
              <a:solidFill>
                <a:srgbClr val="A1E2E6"/>
              </a:solidFill>
              <a:prstDash val="solid"/>
              <a:round/>
            </a:ln>
          </p:spPr>
        </p:sp>
      </p:grpSp>
      <p:grpSp>
        <p:nvGrpSpPr>
          <p:cNvPr id="4" name="Group 4"/>
          <p:cNvGrpSpPr/>
          <p:nvPr/>
        </p:nvGrpSpPr>
        <p:grpSpPr>
          <a:xfrm rot="0">
            <a:off x="2248535" y="1591310"/>
            <a:ext cx="3453765" cy="2105025"/>
            <a:chOff x="0" y="0"/>
            <a:chExt cx="812800" cy="464618"/>
          </a:xfrm>
        </p:grpSpPr>
        <p:sp>
          <p:nvSpPr>
            <p:cNvPr id="5" name="Freeform 5"/>
            <p:cNvSpPr/>
            <p:nvPr/>
          </p:nvSpPr>
          <p:spPr>
            <a:xfrm>
              <a:off x="0" y="0"/>
              <a:ext cx="812800" cy="464618"/>
            </a:xfrm>
            <a:custGeom>
              <a:avLst/>
              <a:gdLst/>
              <a:ahLst/>
              <a:cxnLst/>
              <a:rect l="l" t="t" r="r" b="b"/>
              <a:pathLst>
                <a:path w="812800" h="464618">
                  <a:moveTo>
                    <a:pt x="33940" y="0"/>
                  </a:moveTo>
                  <a:lnTo>
                    <a:pt x="778860" y="0"/>
                  </a:lnTo>
                  <a:cubicBezTo>
                    <a:pt x="797604" y="0"/>
                    <a:pt x="812800" y="15196"/>
                    <a:pt x="812800" y="33940"/>
                  </a:cubicBezTo>
                  <a:lnTo>
                    <a:pt x="812800" y="430678"/>
                  </a:lnTo>
                  <a:cubicBezTo>
                    <a:pt x="812800" y="449423"/>
                    <a:pt x="797604" y="464618"/>
                    <a:pt x="778860" y="464618"/>
                  </a:cubicBezTo>
                  <a:lnTo>
                    <a:pt x="33940" y="464618"/>
                  </a:lnTo>
                  <a:cubicBezTo>
                    <a:pt x="15196" y="464618"/>
                    <a:pt x="0" y="449423"/>
                    <a:pt x="0" y="430678"/>
                  </a:cubicBezTo>
                  <a:lnTo>
                    <a:pt x="0" y="33940"/>
                  </a:lnTo>
                  <a:cubicBezTo>
                    <a:pt x="0" y="15196"/>
                    <a:pt x="15196" y="0"/>
                    <a:pt x="33940" y="0"/>
                  </a:cubicBezTo>
                  <a:close/>
                </a:path>
              </a:pathLst>
            </a:custGeom>
            <a:blipFill>
              <a:blip r:embed="rId2"/>
              <a:stretch>
                <a:fillRect t="-7990" b="-23213"/>
              </a:stretch>
            </a:blipFill>
            <a:ln w="66675" cap="rnd">
              <a:solidFill>
                <a:srgbClr val="A1E2E6"/>
              </a:solidFill>
              <a:prstDash val="solid"/>
              <a:round/>
            </a:ln>
          </p:spPr>
        </p:sp>
      </p:grpSp>
      <p:grpSp>
        <p:nvGrpSpPr>
          <p:cNvPr id="6" name="Group 6"/>
          <p:cNvGrpSpPr/>
          <p:nvPr/>
        </p:nvGrpSpPr>
        <p:grpSpPr>
          <a:xfrm rot="0">
            <a:off x="2248535" y="3851275"/>
            <a:ext cx="3453765" cy="2273300"/>
            <a:chOff x="0" y="0"/>
            <a:chExt cx="812800" cy="464618"/>
          </a:xfrm>
        </p:grpSpPr>
        <p:sp>
          <p:nvSpPr>
            <p:cNvPr id="7" name="Freeform 7"/>
            <p:cNvSpPr/>
            <p:nvPr/>
          </p:nvSpPr>
          <p:spPr>
            <a:xfrm>
              <a:off x="0" y="0"/>
              <a:ext cx="812800" cy="464618"/>
            </a:xfrm>
            <a:custGeom>
              <a:avLst/>
              <a:gdLst/>
              <a:ahLst/>
              <a:cxnLst/>
              <a:rect l="l" t="t" r="r" b="b"/>
              <a:pathLst>
                <a:path w="812800" h="464618">
                  <a:moveTo>
                    <a:pt x="33940" y="0"/>
                  </a:moveTo>
                  <a:lnTo>
                    <a:pt x="778860" y="0"/>
                  </a:lnTo>
                  <a:cubicBezTo>
                    <a:pt x="797604" y="0"/>
                    <a:pt x="812800" y="15196"/>
                    <a:pt x="812800" y="33940"/>
                  </a:cubicBezTo>
                  <a:lnTo>
                    <a:pt x="812800" y="430678"/>
                  </a:lnTo>
                  <a:cubicBezTo>
                    <a:pt x="812800" y="449423"/>
                    <a:pt x="797604" y="464618"/>
                    <a:pt x="778860" y="464618"/>
                  </a:cubicBezTo>
                  <a:lnTo>
                    <a:pt x="33940" y="464618"/>
                  </a:lnTo>
                  <a:cubicBezTo>
                    <a:pt x="15196" y="464618"/>
                    <a:pt x="0" y="449423"/>
                    <a:pt x="0" y="430678"/>
                  </a:cubicBezTo>
                  <a:lnTo>
                    <a:pt x="0" y="33940"/>
                  </a:lnTo>
                  <a:cubicBezTo>
                    <a:pt x="0" y="15196"/>
                    <a:pt x="15196" y="0"/>
                    <a:pt x="33940" y="0"/>
                  </a:cubicBezTo>
                  <a:close/>
                </a:path>
              </a:pathLst>
            </a:custGeom>
            <a:blipFill>
              <a:blip r:embed="rId3"/>
              <a:stretch>
                <a:fillRect l="-740" r="-740"/>
              </a:stretch>
            </a:blipFill>
            <a:ln w="66675" cap="rnd">
              <a:solidFill>
                <a:srgbClr val="A1E2E6"/>
              </a:solidFill>
              <a:prstDash val="solid"/>
              <a:round/>
            </a:ln>
          </p:spPr>
        </p:sp>
      </p:grpSp>
      <p:grpSp>
        <p:nvGrpSpPr>
          <p:cNvPr id="8" name="Group 8"/>
          <p:cNvGrpSpPr/>
          <p:nvPr/>
        </p:nvGrpSpPr>
        <p:grpSpPr>
          <a:xfrm rot="0">
            <a:off x="5882005" y="3851275"/>
            <a:ext cx="2915920" cy="2395855"/>
            <a:chOff x="0" y="0"/>
            <a:chExt cx="812800" cy="464618"/>
          </a:xfrm>
        </p:grpSpPr>
        <p:sp>
          <p:nvSpPr>
            <p:cNvPr id="9" name="Freeform 9"/>
            <p:cNvSpPr/>
            <p:nvPr/>
          </p:nvSpPr>
          <p:spPr>
            <a:xfrm>
              <a:off x="0" y="0"/>
              <a:ext cx="812800" cy="464618"/>
            </a:xfrm>
            <a:custGeom>
              <a:avLst/>
              <a:gdLst/>
              <a:ahLst/>
              <a:cxnLst/>
              <a:rect l="l" t="t" r="r" b="b"/>
              <a:pathLst>
                <a:path w="812800" h="464618">
                  <a:moveTo>
                    <a:pt x="33940" y="0"/>
                  </a:moveTo>
                  <a:lnTo>
                    <a:pt x="778860" y="0"/>
                  </a:lnTo>
                  <a:cubicBezTo>
                    <a:pt x="797604" y="0"/>
                    <a:pt x="812800" y="15196"/>
                    <a:pt x="812800" y="33940"/>
                  </a:cubicBezTo>
                  <a:lnTo>
                    <a:pt x="812800" y="430678"/>
                  </a:lnTo>
                  <a:cubicBezTo>
                    <a:pt x="812800" y="449423"/>
                    <a:pt x="797604" y="464618"/>
                    <a:pt x="778860" y="464618"/>
                  </a:cubicBezTo>
                  <a:lnTo>
                    <a:pt x="33940" y="464618"/>
                  </a:lnTo>
                  <a:cubicBezTo>
                    <a:pt x="15196" y="464618"/>
                    <a:pt x="0" y="449423"/>
                    <a:pt x="0" y="430678"/>
                  </a:cubicBezTo>
                  <a:lnTo>
                    <a:pt x="0" y="33940"/>
                  </a:lnTo>
                  <a:cubicBezTo>
                    <a:pt x="0" y="15196"/>
                    <a:pt x="15196" y="0"/>
                    <a:pt x="33940" y="0"/>
                  </a:cubicBezTo>
                  <a:close/>
                </a:path>
              </a:pathLst>
            </a:custGeom>
            <a:blipFill>
              <a:blip r:embed="rId4"/>
              <a:stretch>
                <a:fillRect l="-11964" r="-11964"/>
              </a:stretch>
            </a:blipFill>
            <a:ln w="66675" cap="rnd">
              <a:solidFill>
                <a:srgbClr val="A1E2E6"/>
              </a:solidFill>
              <a:prstDash val="solid"/>
              <a:round/>
            </a:ln>
          </p:spPr>
        </p:sp>
      </p:grpSp>
      <p:sp>
        <p:nvSpPr>
          <p:cNvPr id="10" name="TextBox 10"/>
          <p:cNvSpPr txBox="1"/>
          <p:nvPr/>
        </p:nvSpPr>
        <p:spPr>
          <a:xfrm>
            <a:off x="1804670" y="412750"/>
            <a:ext cx="5726430" cy="610235"/>
          </a:xfrm>
          <a:prstGeom prst="rect">
            <a:avLst/>
          </a:prstGeom>
        </p:spPr>
        <p:txBody>
          <a:bodyPr wrap="square" lIns="0" tIns="0" rIns="0" bIns="0" rtlCol="0" anchor="t">
            <a:spAutoFit/>
          </a:bodyPr>
          <a:lstStyle/>
          <a:p>
            <a:pPr algn="ctr">
              <a:lnSpc>
                <a:spcPts val="4760"/>
              </a:lnSpc>
            </a:pPr>
            <a:r>
              <a:rPr lang="en-US" sz="36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Joyful Learning Tools</a:t>
            </a:r>
            <a:endParaRPr lang="en-US" sz="36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11" name="TextBox 11"/>
          <p:cNvSpPr txBox="1"/>
          <p:nvPr/>
        </p:nvSpPr>
        <p:spPr>
          <a:xfrm>
            <a:off x="245495" y="2086547"/>
            <a:ext cx="2352879" cy="2034540"/>
          </a:xfrm>
          <a:prstGeom prst="rect">
            <a:avLst/>
          </a:prstGeom>
        </p:spPr>
        <p:txBody>
          <a:bodyPr lIns="0" tIns="0" rIns="0" bIns="0" rtlCol="0" anchor="t">
            <a:spAutoFit/>
          </a:bodyPr>
          <a:lstStyle/>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Pocket Board</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Flashcards </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Magic Chart</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Life Skills Cards </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Ludo Game.</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26110" lvl="1" indent="-313055" algn="l" fontAlgn="auto">
              <a:lnSpc>
                <a:spcPct val="100000"/>
              </a:lnSpc>
              <a:buFont typeface="Arial" panose="020B0604020202020204"/>
              <a:buChar char="•"/>
            </a:pPr>
            <a:r>
              <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rPr>
              <a:t>Jigsaw Puzzles </a:t>
            </a:r>
            <a:endParaRPr lang="en-US" sz="14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5425"/>
              </a:lnSpc>
            </a:pPr>
            <a:endParaRPr sz="9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39752" y="520216"/>
            <a:ext cx="6624818" cy="6327140"/>
          </a:xfrm>
          <a:prstGeom prst="rect">
            <a:avLst/>
          </a:prstGeom>
        </p:spPr>
        <p:txBody>
          <a:bodyPr lIns="0" tIns="0" rIns="0" bIns="0" rtlCol="0" anchor="t">
            <a:spAutoFit/>
          </a:bodyPr>
          <a:lstStyle/>
          <a:p>
            <a:pPr algn="ctr">
              <a:lnSpc>
                <a:spcPts val="5880"/>
              </a:lnSpc>
              <a:spcBef>
                <a:spcPct val="0"/>
              </a:spcBef>
            </a:pPr>
            <a:r>
              <a:rPr lang="en-US" sz="2400" b="1" u="sng">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Participant Feedback</a:t>
            </a:r>
            <a:endParaRPr lang="en-US" sz="2400" b="1">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"I’ve learned many valuable things and started improving."</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"The teaching style was unique and enjoyable."</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"Trainer explained everything clearly – it was very beneficial."</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algn="ctr">
              <a:lnSpc>
                <a:spcPts val="6020"/>
              </a:lnSpc>
            </a:pPr>
            <a:r>
              <a:rPr lang="en-US" sz="2400" b="1" u="sng">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rPr>
              <a:t>Conclusion</a:t>
            </a:r>
            <a:endParaRPr lang="en-US" sz="2400" b="1" u="sng">
              <a:solidFill>
                <a:srgbClr val="000000"/>
              </a:solidFill>
              <a:latin typeface="Corbel" panose="020B0503020204020204" pitchFamily="34" charset="0"/>
              <a:ea typeface="Times New Roman Bold" panose="02030802070405020303"/>
              <a:cs typeface="Corbel" panose="020B0503020204020204" pitchFamily="34" charset="0"/>
              <a:sym typeface="Times New Roman Bold" panose="02030802070405020303"/>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Training enhanced skills in:</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Joyful Learning</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Adult Literacy</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Child Psychology</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Community Engagement</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r>
              <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rPr>
              <a:t>Empowered educators to deliver inclusive, learner-centered education in Mughal Abad.</a:t>
            </a:r>
            <a:endParaRPr lang="en-US" sz="2400">
              <a:solidFill>
                <a:srgbClr val="000000"/>
              </a:solidFill>
              <a:latin typeface="Corbel" panose="020B0503020204020204" pitchFamily="34" charset="0"/>
              <a:ea typeface="Times New Roman" panose="02020603050405020304"/>
              <a:cs typeface="Corbel" panose="020B0503020204020204" pitchFamily="34" charset="0"/>
              <a:sym typeface="Times New Roman" panose="02020603050405020304"/>
            </a:endParaRPr>
          </a:p>
          <a:p>
            <a:pPr indent="0" algn="ctr" fontAlgn="auto">
              <a:lnSpc>
                <a:spcPct val="100000"/>
              </a:lnSpc>
            </a:pPr>
            <a:endParaRPr sz="2400">
              <a:latin typeface="Corbel" panose="020B0503020204020204" pitchFamily="34" charset="0"/>
              <a:cs typeface="Corbel" panose="020B0503020204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36345" y="1347153"/>
            <a:ext cx="6799263" cy="4454525"/>
          </a:xfrm>
        </p:spPr>
        <p:txBody>
          <a:bodyPr>
            <a:normAutofit/>
          </a:bodyPr>
          <a:lstStyle/>
          <a:p>
            <a:pPr marL="0" indent="0" algn="ctr">
              <a:buNone/>
            </a:pPr>
            <a:r>
              <a:rPr lang="en-US" sz="2800" b="1" dirty="0" smtClean="0">
                <a:solidFill>
                  <a:schemeClr val="tx1"/>
                </a:solidFill>
              </a:rPr>
              <a:t>All accounts are handled  </a:t>
            </a:r>
            <a:endParaRPr lang="en-US" sz="2800" b="1" dirty="0" smtClean="0">
              <a:solidFill>
                <a:schemeClr val="tx1"/>
              </a:solidFill>
            </a:endParaRPr>
          </a:p>
          <a:p>
            <a:pPr marL="0" indent="0" algn="ctr">
              <a:buNone/>
            </a:pPr>
            <a:r>
              <a:rPr lang="en-US" sz="2800" b="1" dirty="0" smtClean="0">
                <a:solidFill>
                  <a:schemeClr val="tx1"/>
                </a:solidFill>
              </a:rPr>
              <a:t>by Mr. Uphaz Tasawar</a:t>
            </a:r>
            <a:endParaRPr lang="en-US" sz="2800" b="1" dirty="0" smtClean="0">
              <a:solidFill>
                <a:schemeClr val="tx1"/>
              </a:solidFill>
            </a:endParaRPr>
          </a:p>
          <a:p>
            <a:pPr marL="0" indent="0" algn="ctr">
              <a:buNone/>
            </a:pPr>
            <a:endParaRPr lang="en-US" sz="2800" b="1" dirty="0" smtClean="0">
              <a:solidFill>
                <a:schemeClr val="tx1"/>
              </a:solidFill>
            </a:endParaRPr>
          </a:p>
          <a:p>
            <a:pPr marL="0" indent="0" algn="ctr">
              <a:buNone/>
            </a:pPr>
            <a:r>
              <a:rPr lang="en-US" sz="2800" b="1" dirty="0" smtClean="0">
                <a:solidFill>
                  <a:schemeClr val="tx1"/>
                </a:solidFill>
              </a:rPr>
              <a:t>Academic Fees are regularly deposited/transferred directly into the concerned institution’ bank account, and no cash is given to any student in person.</a:t>
            </a:r>
            <a:endParaRPr lang="en-US" sz="2800" b="1" dirty="0" smtClean="0">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4035" y="2650837"/>
            <a:ext cx="3574473" cy="1322070"/>
          </a:xfrm>
          <a:prstGeom prst="rect">
            <a:avLst/>
          </a:prstGeom>
          <a:solidFill>
            <a:schemeClr val="accent6">
              <a:lumMod val="20000"/>
              <a:lumOff val="80000"/>
            </a:schemeClr>
          </a:solidFill>
          <a:scene3d>
            <a:camera prst="orthographicFront"/>
            <a:lightRig rig="threePt" dir="t"/>
          </a:scene3d>
          <a:sp3d>
            <a:bevelT/>
          </a:sp3d>
        </p:spPr>
        <p:txBody>
          <a:bodyPr wrap="square">
            <a:spAutoFit/>
          </a:bodyPr>
          <a:lstStyle/>
          <a:p>
            <a:pPr algn="ctr"/>
            <a:r>
              <a:rPr lang="en-US" sz="4000" b="1" dirty="0" smtClean="0"/>
              <a:t>Sanja Vehra Report </a:t>
            </a:r>
            <a:endParaRPr lang="en-US" sz="4000" b="1"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945" y="1456055"/>
            <a:ext cx="3881755" cy="4168775"/>
          </a:xfrm>
        </p:spPr>
        <p:txBody>
          <a:bodyPr/>
          <a:lstStyle/>
          <a:p>
            <a:r>
              <a:rPr lang="en-US" sz="2800" b="1" dirty="0" smtClean="0"/>
              <a:t>Thank you</a:t>
            </a:r>
            <a:br>
              <a:rPr lang="en-US" sz="2800" b="1" dirty="0" smtClean="0"/>
            </a:br>
            <a:br>
              <a:rPr lang="en-US" sz="2800" b="1" dirty="0" smtClean="0"/>
            </a:br>
            <a:br>
              <a:rPr lang="en-US" sz="2800" b="1" dirty="0" smtClean="0"/>
            </a:br>
            <a:br>
              <a:rPr lang="en-US" sz="2800" b="1" dirty="0" smtClean="0"/>
            </a:br>
            <a:r>
              <a:rPr lang="en-US" sz="2800" b="1" dirty="0" smtClean="0"/>
              <a:t>Reported by: </a:t>
            </a:r>
            <a:br>
              <a:rPr lang="en-US" sz="2800" b="1" dirty="0" smtClean="0"/>
            </a:br>
            <a:r>
              <a:rPr lang="en-US" sz="2800" b="1" dirty="0" smtClean="0"/>
              <a:t>Resha Qadir Bakhsh </a:t>
            </a:r>
            <a:endParaRPr lang="en-US" sz="2800" b="1" dirty="0" smtClean="0"/>
          </a:p>
        </p:txBody>
      </p:sp>
      <p:pic>
        <p:nvPicPr>
          <p:cNvPr id="5" name="Picture Placeholder 4"/>
          <p:cNvPicPr>
            <a:picLocks noGrp="1" noChangeAspect="1"/>
          </p:cNvPicPr>
          <p:nvPr>
            <p:ph type="pic" idx="1"/>
          </p:nvPr>
        </p:nvPicPr>
        <p:blipFill>
          <a:blip r:embed="rId1">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rcRect l="18853" r="18853"/>
          <a:stretch>
            <a:fillRect/>
          </a:stretch>
        </p:blipFill>
        <p:spPr>
          <a:prstGeom prst="rect">
            <a:avLst/>
          </a:prstGeom>
        </p:spPr>
      </p:pic>
    </p:spTree>
  </p:cSld>
  <p:clrMapOvr>
    <a:masterClrMapping/>
  </p:clrMapOvr>
</p:sld>
</file>

<file path=ppt/tags/tag1.xml><?xml version="1.0" encoding="utf-8"?>
<p:tagLst xmlns:p="http://schemas.openxmlformats.org/presentationml/2006/main">
  <p:tag name="TABLE_ENDDRAG_ORIGIN_RECT" val="594*357"/>
  <p:tag name="TABLE_ENDDRAG_RECT" val="66*104*594*357"/>
</p:tagLst>
</file>

<file path=ppt/tags/tag2.xml><?xml version="1.0" encoding="utf-8"?>
<p:tagLst xmlns:p="http://schemas.openxmlformats.org/presentationml/2006/main">
  <p:tag name="TABLE_ENDDRAG_ORIGIN_RECT" val="674*457"/>
  <p:tag name="TABLE_ENDDRAG_RECT" val="16*73*674*457"/>
</p:tagLst>
</file>

<file path=ppt/tags/tag3.xml><?xml version="1.0" encoding="utf-8"?>
<p:tagLst xmlns:p="http://schemas.openxmlformats.org/presentationml/2006/main">
  <p:tag name="TABLE_ENDDRAG_ORIGIN_RECT" val="694*467"/>
  <p:tag name="TABLE_ENDDRAG_RECT" val="13*53*694*467"/>
</p:tagLst>
</file>

<file path=ppt/tags/tag4.xml><?xml version="1.0" encoding="utf-8"?>
<p:tagLst xmlns:p="http://schemas.openxmlformats.org/presentationml/2006/main">
  <p:tag name="TABLE_ENDDRAG_ORIGIN_RECT" val="688*468"/>
  <p:tag name="TABLE_ENDDRAG_RECT" val="12*53*688*468"/>
</p:tagLst>
</file>

<file path=ppt/tags/tag5.xml><?xml version="1.0" encoding="utf-8"?>
<p:tagLst xmlns:p="http://schemas.openxmlformats.org/presentationml/2006/main">
  <p:tag name="TABLE_ENDDRAG_ORIGIN_RECT" val="695*478"/>
  <p:tag name="TABLE_ENDDRAG_RECT" val="6*43*695*478"/>
</p:tagLst>
</file>

<file path=ppt/tags/tag6.xml><?xml version="1.0" encoding="utf-8"?>
<p:tagLst xmlns:p="http://schemas.openxmlformats.org/presentationml/2006/main">
  <p:tag name="TABLE_ENDDRAG_ORIGIN_RECT" val="680*533"/>
  <p:tag name="TABLE_ENDDRAG_RECT" val="20*88*680*533"/>
</p:tagLst>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0</TotalTime>
  <Words>18001</Words>
  <Application>WPS Presentation</Application>
  <PresentationFormat>On-screen Show (4:3)</PresentationFormat>
  <Paragraphs>985</Paragraphs>
  <Slides>53</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53</vt:i4>
      </vt:variant>
    </vt:vector>
  </HeadingPairs>
  <TitlesOfParts>
    <vt:vector size="74" baseType="lpstr">
      <vt:lpstr>Arial</vt:lpstr>
      <vt:lpstr>SimSun</vt:lpstr>
      <vt:lpstr>Wingdings</vt:lpstr>
      <vt:lpstr>Corbel</vt:lpstr>
      <vt:lpstr>Microsoft YaHei</vt:lpstr>
      <vt:lpstr>Arial Unicode MS</vt:lpstr>
      <vt:lpstr>Calibri</vt:lpstr>
      <vt:lpstr>ＭＳ 明朝</vt:lpstr>
      <vt:lpstr>Segoe Print</vt:lpstr>
      <vt:lpstr>Arial</vt:lpstr>
      <vt:lpstr>Calibri</vt:lpstr>
      <vt:lpstr>Calibri Light</vt:lpstr>
      <vt:lpstr>Corbel</vt:lpstr>
      <vt:lpstr>Times New Roman Bold</vt:lpstr>
      <vt:lpstr>Times New Roman</vt:lpstr>
      <vt:lpstr>Times New Roman</vt:lpstr>
      <vt:lpstr>Canva Sans Bold</vt:lpstr>
      <vt:lpstr>Yu Gothic UI Semibold</vt:lpstr>
      <vt:lpstr>Monotype Corsiva</vt:lpstr>
      <vt:lpstr>Nirmala UI Semilight</vt:lpstr>
      <vt:lpstr>Basis</vt:lpstr>
      <vt:lpstr>PowerPoint 演示文稿</vt:lpstr>
      <vt:lpstr>RAPID CHARITY </vt:lpstr>
      <vt:lpstr>PowerPoint 演示文稿</vt:lpstr>
      <vt:lpstr> OUR OBJECTIVES </vt:lpstr>
      <vt:lpstr> OUR OBJECTIVES </vt:lpstr>
      <vt:lpstr>PowerPoint 演示文稿</vt:lpstr>
      <vt:lpstr>PowerPoint 演示文稿</vt:lpstr>
      <vt:lpstr>  JOHN-IVY AZARIAH SCHOLARSHIP</vt:lpstr>
      <vt:lpstr>  ROBERT MATHIAS SCHOLARSHIP</vt:lpstr>
      <vt:lpstr>  IVY AZARIAH SCHOLARSHIP</vt:lpstr>
      <vt:lpstr>PowerPoint 演示文稿</vt:lpstr>
      <vt:lpstr>PowerPoint 演示文稿</vt:lpstr>
      <vt:lpstr> Procedure for Selection of students for the Spring &amp; Fall 2025 Semester</vt:lpstr>
      <vt:lpstr>PowerPoint 演示文稿</vt:lpstr>
      <vt:lpstr>Procedure of Selection </vt:lpstr>
      <vt:lpstr>Procedure of Selection </vt:lpstr>
      <vt:lpstr>Procedure</vt:lpstr>
      <vt:lpstr>PowerPoint 演示文稿</vt:lpstr>
      <vt:lpstr>Procedure</vt:lpstr>
      <vt:lpstr>Spring &amp; Fall 2025 Students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General Overview of Students   Data  As in  Previous Years</vt:lpstr>
      <vt:lpstr>Comparison of Scholarships awarded in previous Years</vt:lpstr>
      <vt:lpstr>Graduated students in previous Years (71)</vt:lpstr>
      <vt:lpstr>Students belong to Rural &amp; Urban Area of Pakistan </vt:lpstr>
      <vt:lpstr>PowerPoint 演示文稿</vt:lpstr>
      <vt:lpstr>PowerPoint 演示文稿</vt:lpstr>
      <vt:lpstr>PowerPoint 演示文稿</vt:lpstr>
      <vt:lpstr>RAPID-TEAM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Introduction of Training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Reported by:  Resha Qadir Bakhsh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Resha</dc:creator>
  <cp:lastModifiedBy>Resha Qadir Bukhsh</cp:lastModifiedBy>
  <cp:revision>86</cp:revision>
  <dcterms:created xsi:type="dcterms:W3CDTF">2020-07-31T04:27:00Z</dcterms:created>
  <dcterms:modified xsi:type="dcterms:W3CDTF">2025-08-24T13:05:02Z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0291C4C34BEE464EA50F6A86CE41C1A0_13</vt:lpwstr>
  </property>
  <property fmtid="{D5CDD505-2E9C-101B-9397-08002B2CF9AE}" pid="3" name="KSOProductBuildVer">
    <vt:lpwstr>1033-12.2.0.22222</vt:lpwstr>
  </property>
</Properties>
</file>